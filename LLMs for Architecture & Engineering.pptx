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17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is about using AI chat tools for the work around design: understanding briefs, research, documents, meetings and coordination. Not about letting AI design buildings. No technical background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The use cases are the practical payoff: each has a Nepali scenario, a bad prompt and a good prompt people can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through the rings. Think of it like Russian dolls: every LLM is generative AI, which is deep learning, which is machine learning, which is AI. Structural analysis software such as ETABS is not an LLM; today we focus only on chat-style language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light. Ask the room for their own example of each word. Spend most time on hallucination: it is why every later slide says check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junior analogy works for every engineer and architect in the room: useful, fast, well-read, but you would never let a new junior stamp a drawing. Phone autocomplete explains the mechanics: type 'good' and it suggests 'morning'.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illustration of how a hallucination looks, not a recording of a specific model. NBC 101 exists but is about materials, which makes it a convincing wrong answer. Ask the room: how would you know which one to trust? Answer: you check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behind these, for anyone who asks: prediction is how Transformer language models work (Vaswani et al. 2017). Open book is retrieval-augmented generation (Lewis et al. 2020). Show your working is chain-of-thought prompting (Wei et al. 2022). Good at some jobs, bad at similar ones is the jagged frontier (Dell'Acqua et al. 2023, Harvard and BCG).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column their biggest time-wasters fall in. Most office paperwork is on the left. Most legal risk is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published survey like this for Nepal yet, which could itself be a project for NEA or SONA. The UK trend shows how fast adoption can move. Note the quality signal: only 17 percent say designs got better. The gains are mostly in paperwork and specifications, exactly today's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US data, so present it as a rough guide for Nepal. Ask the room: how many hours last week did you spend searching for a drawing, chasing an approval or rewriting a letter?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argue about which is best: rankings change monthly. Any of the big three can do today's use cases. Choose based on where your files live, your privacy rules and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tool is hallucination-free, including NotebookLM. It is lower risk because it reads your files, but it can still misread a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two is the one people skip. Before pasting anything, decide if it is public, internal or private. Step six is the professional duty.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the AI the way you would brief a new junior: who they are, the project, the local constraints, what you want back. Plot size and storeys in the example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Goal, Context, Action, Output framework plus a role and limits. The limits line is what stops invented bylaw figures. Fill the blanks with a real project during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examples is underused. If your firm has good past letters or reports, paste them in and ask for the same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check: 45 x 1.54 = 69.3 m3 dry; ratio total 5.5; cement 12.6 m3 x 1440 = 18,144 kg = about 363 bags; sand 18.9 m3 = about 667 cft; aggregate 37.8 m3 = about 1,335 cft; wastage not included. AI often forgets the dry volume factor. This pairs with use case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habits are what 'standard of care' means in practice. The record helps if a design is ever disputed.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same four principles as the original deck (liability, standard of care, IP and confidentiality, statutory compliance), in simpler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Mata v. Avianca: lawyers asked ChatGPT for past cases, it invented them, and nobody checked. Replace lawyer with engineer and court brief with structural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Nepal approved its National AI Policy 2082 in August 2025. It is a policy, not an enforceable AI law yet. Existing laws already apply: Engineering Council Act for responsibility, Privacy Act for personal data, Copyright Act for drawings, Electronic Transactions Act for data crimes. Confirm current wording before quoting.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working model to take back to the office. AI never sits in the right-hand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01.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02.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03.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04.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05.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06.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07.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08.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09.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 10. Read the bad prompt aloud and ask the room what is missing. Then show the good prompt: it gives a role or context, clear steps, the output format, and limits. If time allows, run the good prompt live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working model. Questions to open discussion: which task in your office would you try first? What data would you never put into a public AI tool?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for the survey charts and the theory slides. All survey figures as reported in the publications named; the RIBA 2026 figures were reported in the Architects'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[your-username] with the real GitHub address before the session. Confirm the wording of Nepali acts with the official Nepal Law Commission texts if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54198"/>
            <a:ext cx="10566400" cy="419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34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31000" y="508000"/>
            <a:ext cx="5461000" cy="584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CPD SESSION · SQUARE UNIT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239520"/>
            <a:ext cx="8502650" cy="157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20"/>
              </a:lnSpc>
              <a:buNone/>
            </a:pPr>
            <a:r>
              <a:rPr lang="en-US" sz="6000" b="1" i="0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LLMs for Architecture &amp; Engineering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2971800"/>
            <a:ext cx="7848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F2A0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Practical AI for Everyday Professional Work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800" y="5455920"/>
            <a:ext cx="296268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Er. Pranaya Nakarmi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5814060"/>
            <a:ext cx="34516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CEO, Venture Four Technology Pvt. Ltd.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8791" y="5544820"/>
            <a:ext cx="248113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Friday, 2 October · 3 PM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98791" y="5814060"/>
            <a:ext cx="248113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Unit, Balkhu, Kathmandu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will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3380264" cy="1563370"/>
          </a:xfrm>
          <a:prstGeom prst="roundRect">
            <a:avLst>
              <a:gd name="adj" fmla="val 629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87880"/>
            <a:ext cx="30068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6480" y="2443480"/>
            <a:ext cx="30068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an LLM?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6480" y="2763520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 definitions, key words and how AI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789" y="1857375"/>
            <a:ext cx="3380343" cy="1563370"/>
          </a:xfrm>
          <a:prstGeom prst="roundRect">
            <a:avLst>
              <a:gd name="adj" fmla="val 629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294" y="2087880"/>
            <a:ext cx="30069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36294" y="244348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data says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294" y="276352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Surveys on how architects and firms use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82" y="1857375"/>
            <a:ext cx="3380343" cy="1563370"/>
          </a:xfrm>
          <a:prstGeom prst="roundRect">
            <a:avLst>
              <a:gd name="adj" fmla="val 629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6187" y="2087880"/>
            <a:ext cx="30069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6187" y="244348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tools?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6187" y="276352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Popular AI assistants and what each is good 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630295"/>
            <a:ext cx="3380264" cy="1563370"/>
          </a:xfrm>
          <a:prstGeom prst="roundRect">
            <a:avLst>
              <a:gd name="adj" fmla="val 629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480" y="3860800"/>
            <a:ext cx="30068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46480" y="4216400"/>
            <a:ext cx="30068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to ask well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46480" y="4536440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simple process, good vs bad prompts, and how to check answers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5789" y="3630295"/>
            <a:ext cx="3380343" cy="1563370"/>
          </a:xfrm>
          <a:prstGeom prst="roundRect">
            <a:avLst>
              <a:gd name="adj" fmla="val 629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294" y="3860800"/>
            <a:ext cx="30069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36294" y="421640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legal side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36294" y="453644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is responsible, plus what Nepali law says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95682" y="3630295"/>
            <a:ext cx="3380343" cy="1563370"/>
          </a:xfrm>
          <a:prstGeom prst="roundRect">
            <a:avLst>
              <a:gd name="adj" fmla="val 629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6187" y="3860800"/>
            <a:ext cx="30069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6187" y="421640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real use cases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6187" y="4536440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Nepali scenarios with bad and good prompts, then a 30-day plan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1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83888" y="6238241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/ 35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AN LLM? · DEFINITIONS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AI, machine learning, LLM: what is the difference?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847850"/>
            <a:ext cx="5194300" cy="3797300"/>
          </a:xfrm>
          <a:prstGeom prst="roundRect">
            <a:avLst>
              <a:gd name="adj" fmla="val 4515"/>
            </a:avLst>
          </a:prstGeom>
          <a:solidFill>
            <a:srgbClr val="F2E8DA"/>
          </a:solidFill>
          <a:ln w="12700">
            <a:solidFill>
              <a:srgbClr val="D9C6AE"/>
            </a:solidFill>
            <a:prstDash val="solid"/>
          </a:ln>
        </p:spPr>
        <p:txBody>
          <a:bodyPr wrap="square" lIns="131394" tIns="67894" rIns="0" bIns="678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6650" y="2292350"/>
            <a:ext cx="4559300" cy="3225800"/>
          </a:xfrm>
          <a:prstGeom prst="roundRect">
            <a:avLst>
              <a:gd name="adj" fmla="val 5315"/>
            </a:avLst>
          </a:prstGeom>
          <a:solidFill>
            <a:srgbClr val="EAD9C3"/>
          </a:solidFill>
          <a:ln w="12700">
            <a:solidFill>
              <a:srgbClr val="D2BC9E"/>
            </a:solidFill>
            <a:prstDash val="solid"/>
          </a:ln>
        </p:spPr>
        <p:txBody>
          <a:bodyPr wrap="square" lIns="131394" tIns="67894" rIns="5512" bIns="678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54150" y="2736850"/>
            <a:ext cx="3924300" cy="2654300"/>
          </a:xfrm>
          <a:prstGeom prst="roundRect">
            <a:avLst>
              <a:gd name="adj" fmla="val 6459"/>
            </a:avLst>
          </a:prstGeom>
          <a:solidFill>
            <a:srgbClr val="DFC6A8"/>
          </a:solidFill>
          <a:ln w="12700">
            <a:solidFill>
              <a:srgbClr val="C8AE8C"/>
            </a:solidFill>
            <a:prstDash val="solid"/>
          </a:ln>
        </p:spPr>
        <p:txBody>
          <a:bodyPr wrap="square" lIns="131394" tIns="67894" rIns="24562" bIns="678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71650" y="3181350"/>
            <a:ext cx="3289300" cy="2082800"/>
          </a:xfrm>
          <a:prstGeom prst="roundRect">
            <a:avLst>
              <a:gd name="adj" fmla="val 8232"/>
            </a:avLst>
          </a:prstGeom>
          <a:solidFill>
            <a:srgbClr val="E8B9A5"/>
          </a:solidFill>
          <a:ln w="12700">
            <a:solidFill>
              <a:srgbClr val="D59E88"/>
            </a:solidFill>
            <a:prstDash val="solid"/>
          </a:ln>
        </p:spPr>
        <p:txBody>
          <a:bodyPr wrap="square" lIns="131394" tIns="67894" rIns="43611" bIns="678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82800" y="3619500"/>
            <a:ext cx="2667000" cy="1524000"/>
          </a:xfrm>
          <a:prstGeom prst="roundRect">
            <a:avLst>
              <a:gd name="adj" fmla="val 10000"/>
            </a:avLst>
          </a:prstGeom>
          <a:solidFill>
            <a:srgbClr val="A3463D"/>
          </a:solidFill>
          <a:ln/>
        </p:spPr>
      </p:sp>
      <p:sp>
        <p:nvSpPr>
          <p:cNvPr id="9" name="Text 7"/>
          <p:cNvSpPr/>
          <p:nvPr/>
        </p:nvSpPr>
        <p:spPr>
          <a:xfrm>
            <a:off x="2960910" y="4036061"/>
            <a:ext cx="9107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32545" y="4513580"/>
            <a:ext cx="21675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ChatGPT · Claude · Gemini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32550" y="1841500"/>
            <a:ext cx="0" cy="480060"/>
          </a:xfrm>
          <a:prstGeom prst="line">
            <a:avLst/>
          </a:prstGeom>
          <a:noFill/>
          <a:ln w="38100">
            <a:solidFill>
              <a:srgbClr val="C8A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460" y="1841500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01460" y="2115820"/>
            <a:ext cx="492107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Computers doing jobs that normally need a human brain.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32550" y="2628900"/>
            <a:ext cx="0" cy="685800"/>
          </a:xfrm>
          <a:prstGeom prst="line">
            <a:avLst/>
          </a:prstGeom>
          <a:noFill/>
          <a:ln w="38100">
            <a:solidFill>
              <a:srgbClr val="C8A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460" y="2628900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460" y="2903220"/>
            <a:ext cx="492107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Computers that learn from examples, not rules. Like spotting cracks after seeing thousands of photos.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32550" y="3416300"/>
            <a:ext cx="0" cy="685800"/>
          </a:xfrm>
          <a:prstGeom prst="line">
            <a:avLst/>
          </a:prstGeom>
          <a:noFill/>
          <a:ln w="38100">
            <a:solidFill>
              <a:srgbClr val="C8A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460" y="3416300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01460" y="3690620"/>
            <a:ext cx="492107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powerful kind of machine learning built from layers of “digital neurons”.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32550" y="4203700"/>
            <a:ext cx="0" cy="480060"/>
          </a:xfrm>
          <a:prstGeom prst="line">
            <a:avLst/>
          </a:prstGeom>
          <a:noFill/>
          <a:ln w="38100">
            <a:solidFill>
              <a:srgbClr val="C8A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460" y="4203700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01460" y="4478020"/>
            <a:ext cx="492107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that creates something new: text, pictures, code, even 3D.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32550" y="4991100"/>
            <a:ext cx="0" cy="685800"/>
          </a:xfrm>
          <a:prstGeom prst="line">
            <a:avLst/>
          </a:prstGeom>
          <a:noFill/>
          <a:ln w="38100">
            <a:solidFill>
              <a:srgbClr val="A34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460" y="4991100"/>
            <a:ext cx="492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Language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460" y="5265420"/>
            <a:ext cx="4921072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that has read a huge library of text and writes by guessing the next word.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41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3888" y="6238241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35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5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AN LLM? · KEY WORDS</a:t>
            </a:r>
            <a:endParaRPr lang="en-US" sz="115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104"/>
            <a:ext cx="10883392" cy="44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words you will hear today</a:t>
            </a:r>
            <a:endParaRPr lang="en-US" sz="3020" dirty="0"/>
          </a:p>
        </p:txBody>
      </p:sp>
      <p:sp>
        <p:nvSpPr>
          <p:cNvPr id="4" name="Shape 2"/>
          <p:cNvSpPr/>
          <p:nvPr/>
        </p:nvSpPr>
        <p:spPr>
          <a:xfrm>
            <a:off x="815975" y="1816260"/>
            <a:ext cx="3397250" cy="1914128"/>
          </a:xfrm>
          <a:prstGeom prst="roundRect">
            <a:avLst>
              <a:gd name="adj" fmla="val 514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5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5680" y="1995963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0480" y="1995963"/>
            <a:ext cx="80610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Prompt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5680" y="2300763"/>
            <a:ext cx="31289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instruction you type to the AI. Think of it as a brief you give a junior.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95680" y="2839244"/>
            <a:ext cx="3037840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1424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“Summarise this soil report for the client.”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7375" y="1816260"/>
            <a:ext cx="3397250" cy="1914128"/>
          </a:xfrm>
          <a:prstGeom prst="roundRect">
            <a:avLst>
              <a:gd name="adj" fmla="val 514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10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7080" y="1985487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81880" y="1985487"/>
            <a:ext cx="168525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or chatbot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7080" y="2279729"/>
            <a:ext cx="3128975" cy="654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5"/>
              </a:lnSpc>
              <a:buNone/>
            </a:pPr>
            <a:r>
              <a:rPr lang="en-US" sz="1239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you chat with: ChatGPT, Claude or Gemini. LLM means Large Language Model.</a:t>
            </a:r>
            <a:endParaRPr lang="en-US" sz="1239" dirty="0"/>
          </a:p>
        </p:txBody>
      </p:sp>
      <p:sp>
        <p:nvSpPr>
          <p:cNvPr id="13" name="Text 9"/>
          <p:cNvSpPr/>
          <p:nvPr/>
        </p:nvSpPr>
        <p:spPr>
          <a:xfrm>
            <a:off x="4577080" y="2985453"/>
            <a:ext cx="3037840" cy="565229"/>
          </a:xfrm>
          <a:prstGeom prst="roundRect">
            <a:avLst>
              <a:gd name="adj" fmla="val 11234"/>
            </a:avLst>
          </a:prstGeom>
          <a:solidFill>
            <a:srgbClr val="F2E8DA"/>
          </a:solidFill>
          <a:ln/>
        </p:spPr>
        <p:txBody>
          <a:bodyPr wrap="square" lIns="95701" tIns="70301" rIns="11424" bIns="44901" rtlCol="0" anchor="t">
            <a:normAutofit/>
          </a:bodyPr>
          <a:lstStyle/>
          <a:p>
            <a:pPr marL="0" indent="0" algn="l">
              <a:lnSpc>
                <a:spcPts val="1533"/>
              </a:lnSpc>
              <a:buNone/>
            </a:pPr>
            <a:r>
              <a:rPr lang="en-US" sz="1095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</a:t>
            </a:r>
            <a:r>
              <a:rPr lang="en-US" sz="1095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Asking ChatGPT to draft a letter to the municipality.</a:t>
            </a:r>
            <a:endParaRPr lang="en-US" sz="1095" dirty="0"/>
          </a:p>
        </p:txBody>
      </p:sp>
      <p:sp>
        <p:nvSpPr>
          <p:cNvPr id="14" name="Shape 10"/>
          <p:cNvSpPr/>
          <p:nvPr/>
        </p:nvSpPr>
        <p:spPr>
          <a:xfrm>
            <a:off x="7978775" y="1816260"/>
            <a:ext cx="3397250" cy="1914128"/>
          </a:xfrm>
          <a:prstGeom prst="roundRect">
            <a:avLst>
              <a:gd name="adj" fmla="val 514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15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8480" y="1995963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63280" y="1995963"/>
            <a:ext cx="8890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158480" y="2300763"/>
            <a:ext cx="31289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you give the AI to work from: files, drawings, notes, past emails.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58480" y="2839244"/>
            <a:ext cx="3037840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1424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Uploading the client's brief along with your question.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9150" y="3917713"/>
            <a:ext cx="3390900" cy="1917938"/>
          </a:xfrm>
          <a:prstGeom prst="roundRect">
            <a:avLst>
              <a:gd name="adj" fmla="val 4966"/>
            </a:avLst>
          </a:prstGeom>
          <a:solidFill>
            <a:srgbClr val="FFFBF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20" name="Image 3" descr="War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760" y="409932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05560" y="4099322"/>
            <a:ext cx="144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000760" y="4404122"/>
            <a:ext cx="311851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AI makes something up and says it confidently.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00760" y="4942602"/>
            <a:ext cx="3027680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1729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Quoting an NBC clause that does not exist.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97375" y="3914538"/>
            <a:ext cx="3397250" cy="1924288"/>
          </a:xfrm>
          <a:prstGeom prst="roundRect">
            <a:avLst>
              <a:gd name="adj" fmla="val 511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25" name="Image 4" descr="Search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7080" y="409424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81880" y="4094242"/>
            <a:ext cx="2756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Open-book answer (RAG)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77080" y="4399042"/>
            <a:ext cx="312897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reads your documents first, then answers from them.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7080" y="4937522"/>
            <a:ext cx="3037840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1424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“Using only this NBC 105 PDF, answer and give the clause.”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978775" y="3914538"/>
            <a:ext cx="3397250" cy="1924288"/>
          </a:xfrm>
          <a:prstGeom prst="roundRect">
            <a:avLst>
              <a:gd name="adj" fmla="val 511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30" name="Image 5" descr="Tool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58480" y="4084638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63280" y="4084638"/>
            <a:ext cx="91287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agent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158480" y="4379754"/>
            <a:ext cx="3128975" cy="660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9"/>
              </a:lnSpc>
              <a:buNone/>
            </a:pPr>
            <a:r>
              <a:rPr lang="en-US" sz="1263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AI that does several steps by itself, like searching, calculating and filling a sheet.</a:t>
            </a:r>
            <a:endParaRPr lang="en-US" sz="1263" dirty="0"/>
          </a:p>
        </p:txBody>
      </p:sp>
      <p:sp>
        <p:nvSpPr>
          <p:cNvPr id="33" name="Shape 25"/>
          <p:cNvSpPr/>
          <p:nvPr/>
        </p:nvSpPr>
        <p:spPr>
          <a:xfrm>
            <a:off x="8158480" y="5090716"/>
            <a:ext cx="3037840" cy="568404"/>
          </a:xfrm>
          <a:prstGeom prst="roundRect">
            <a:avLst>
              <a:gd name="adj" fmla="val 11172"/>
            </a:avLst>
          </a:prstGeom>
          <a:solidFill>
            <a:srgbClr val="F2E8DA"/>
          </a:solidFill>
          <a:ln/>
        </p:spPr>
      </p:sp>
      <p:sp>
        <p:nvSpPr>
          <p:cNvPr id="34" name="Text 26"/>
          <p:cNvSpPr/>
          <p:nvPr/>
        </p:nvSpPr>
        <p:spPr>
          <a:xfrm>
            <a:off x="8272780" y="5179616"/>
            <a:ext cx="2893517" cy="416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59"/>
              </a:lnSpc>
              <a:buNone/>
            </a:pPr>
            <a:r>
              <a:rPr lang="en-US" sz="1114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Example:</a:t>
            </a:r>
            <a:r>
              <a:rPr lang="en-US" sz="1114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Collecting supplier prices into an Excel table.</a:t>
            </a:r>
            <a:endParaRPr lang="en-US" sz="1114" dirty="0"/>
          </a:p>
        </p:txBody>
      </p:sp>
      <p:sp>
        <p:nvSpPr>
          <p:cNvPr id="35" name="Text 27"/>
          <p:cNvSpPr/>
          <p:nvPr/>
        </p:nvSpPr>
        <p:spPr>
          <a:xfrm>
            <a:off x="812800" y="6238239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0783888" y="6238239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35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AN LLM? · HOW IT WORKS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Think of AI as a very fast new junior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4445000" cy="3048000"/>
          </a:xfrm>
          <a:prstGeom prst="roundRect">
            <a:avLst>
              <a:gd name="adj" fmla="val 3333"/>
            </a:avLst>
          </a:prstGeom>
          <a:solidFill>
            <a:srgbClr val="A3463D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08200"/>
            <a:ext cx="405511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Imagine a new junior who…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7920" y="2509521"/>
            <a:ext cx="397637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read millions of books and websites</a:t>
            </a:r>
            <a:endParaRPr lang="en-US" sz="1500" dirty="0"/>
          </a:p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a full page in seconds</a:t>
            </a:r>
            <a:endParaRPr lang="en-US" sz="1500" dirty="0"/>
          </a:p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has never visited a site in Nepal</a:t>
            </a:r>
            <a:endParaRPr lang="en-US" sz="1500" dirty="0"/>
          </a:p>
          <a:p>
            <a:pPr marL="182880" indent="-18288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never says “I don’t know”, and guesses instead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14975" y="1857375"/>
            <a:ext cx="5861050" cy="844550"/>
          </a:xfrm>
          <a:prstGeom prst="roundRect">
            <a:avLst>
              <a:gd name="adj" fmla="val 11654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94680" y="2066289"/>
            <a:ext cx="495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66180" y="2037082"/>
            <a:ext cx="50780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ask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6180" y="2291082"/>
            <a:ext cx="50780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your question and attach your files.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14975" y="2835275"/>
            <a:ext cx="5861050" cy="1075690"/>
          </a:xfrm>
          <a:prstGeom prst="roundRect">
            <a:avLst>
              <a:gd name="adj" fmla="val 9150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4680" y="3159761"/>
            <a:ext cx="495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66180" y="3014982"/>
            <a:ext cx="50780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writes word by word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6180" y="3268982"/>
            <a:ext cx="507804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Like phone autocomplete: it keeps adding the word that sounds most likely.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18150" y="4047489"/>
            <a:ext cx="5854700" cy="848360"/>
          </a:xfrm>
          <a:prstGeom prst="roundRect">
            <a:avLst>
              <a:gd name="adj" fmla="val 11228"/>
            </a:avLst>
          </a:prstGeom>
          <a:solidFill>
            <a:srgbClr val="FFFBF5"/>
          </a:solidFill>
          <a:ln w="12700">
            <a:solidFill>
              <a:srgbClr val="2F5D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9760" y="4258311"/>
            <a:ext cx="4953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71260" y="4229100"/>
            <a:ext cx="50675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check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1260" y="4483100"/>
            <a:ext cx="506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 as you would check a junior’s work before it goes out.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5207000"/>
            <a:ext cx="10566400" cy="511175"/>
          </a:xfrm>
          <a:prstGeom prst="rect">
            <a:avLst/>
          </a:prstGeom>
          <a:solidFill>
            <a:srgbClr val="F2E8DA"/>
          </a:solidFill>
          <a:ln/>
        </p:spPr>
        <p:txBody>
          <a:bodyPr wrap="square" lIns="254000" tIns="127000" rIns="0" bIns="10160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writes what </a:t>
            </a:r>
            <a:r>
              <a:rPr lang="en-US" sz="1500" b="1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sounds</a:t>
            </a:r>
            <a:r>
              <a:rPr lang="en-US" sz="15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right, not what </a:t>
            </a:r>
            <a:r>
              <a:rPr lang="en-US" sz="1500" b="1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</a:t>
            </a:r>
            <a:r>
              <a:rPr lang="en-US" sz="15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right.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8200" y="5207000"/>
            <a:ext cx="0" cy="511175"/>
          </a:xfrm>
          <a:prstGeom prst="line">
            <a:avLst/>
          </a:prstGeom>
          <a:noFill/>
          <a:ln w="50800">
            <a:solidFill>
              <a:srgbClr val="A34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6238239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3888" y="6238239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35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AN LLM? · EXAMPLE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question, two confident answers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5975" y="1857375"/>
            <a:ext cx="10560050" cy="575310"/>
          </a:xfrm>
          <a:prstGeom prst="roundRect">
            <a:avLst>
              <a:gd name="adj" fmla="val 1710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  <p:txBody>
          <a:bodyPr wrap="square" lIns="176277" tIns="125477" rIns="0" bIns="10007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 typed twice:</a:t>
            </a:r>
            <a:r>
              <a:rPr lang="en-US" sz="15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“Which Nepal National Building Code covers seismic design of buildings?”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9150" y="2747011"/>
            <a:ext cx="5168900" cy="1074420"/>
          </a:xfrm>
          <a:prstGeom prst="roundRect">
            <a:avLst>
              <a:gd name="adj" fmla="val 8865"/>
            </a:avLst>
          </a:prstGeom>
          <a:solidFill>
            <a:srgbClr val="E8EFF4"/>
          </a:solidFill>
          <a:ln w="12700">
            <a:solidFill>
              <a:srgbClr val="2F5D7C"/>
            </a:solidFill>
            <a:prstDash val="solid"/>
          </a:ln>
        </p:spPr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2979421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1760" y="2984500"/>
            <a:ext cx="20390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 1: correct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322321"/>
            <a:ext cx="48452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“The seismic design code is NBC 105.”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03950" y="2747011"/>
            <a:ext cx="5168900" cy="1074420"/>
          </a:xfrm>
          <a:prstGeom prst="roundRect">
            <a:avLst>
              <a:gd name="adj" fmla="val 8865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6360" y="2979421"/>
            <a:ext cx="254000" cy="25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2984500"/>
            <a:ext cx="19402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Answer 2: wrong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36360" y="3322321"/>
            <a:ext cx="48452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“The seismic design code is NBC 101.”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2800" y="4132582"/>
            <a:ext cx="10566400" cy="511175"/>
          </a:xfrm>
          <a:prstGeom prst="rect">
            <a:avLst/>
          </a:prstGeom>
          <a:solidFill>
            <a:srgbClr val="FFFBF5"/>
          </a:solidFill>
          <a:ln/>
        </p:spPr>
        <p:txBody>
          <a:bodyPr wrap="square" lIns="254000" tIns="127000" rIns="0" bIns="10160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sound equally sure. The fix: upload the real code and ask it to quote the clause.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38200" y="4132582"/>
            <a:ext cx="0" cy="511175"/>
          </a:xfrm>
          <a:prstGeom prst="line">
            <a:avLst/>
          </a:prstGeom>
          <a:noFill/>
          <a:ln w="50800">
            <a:solidFill>
              <a:srgbClr val="A34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2800" y="6238239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783888" y="6238239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/ 35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AN LLM? · SIMPLE IDEAS</a:t>
            </a:r>
            <a:endParaRPr lang="en-US" sz="115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94901"/>
            <a:ext cx="10883392" cy="45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311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ideas that explain how AI behaves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5975" y="1834356"/>
            <a:ext cx="5187950" cy="1910159"/>
          </a:xfrm>
          <a:prstGeom prst="roundRect">
            <a:avLst>
              <a:gd name="adj" fmla="val 515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39463"/>
            <a:ext cx="4921072" cy="26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19"/>
              </a:lnSpc>
              <a:buNone/>
            </a:pPr>
            <a:r>
              <a:rPr lang="en-US" sz="1919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919" dirty="0"/>
          </a:p>
        </p:txBody>
      </p:sp>
      <p:sp>
        <p:nvSpPr>
          <p:cNvPr id="6" name="Text 4"/>
          <p:cNvSpPr/>
          <p:nvPr/>
        </p:nvSpPr>
        <p:spPr>
          <a:xfrm>
            <a:off x="1021080" y="2355453"/>
            <a:ext cx="4921072" cy="24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434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predicts; it does not know</a:t>
            </a:r>
            <a:endParaRPr lang="en-US" sz="1434" dirty="0"/>
          </a:p>
        </p:txBody>
      </p:sp>
      <p:sp>
        <p:nvSpPr>
          <p:cNvPr id="7" name="Text 5"/>
          <p:cNvSpPr/>
          <p:nvPr/>
        </p:nvSpPr>
        <p:spPr>
          <a:xfrm>
            <a:off x="1021080" y="2647476"/>
            <a:ext cx="4921072" cy="46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5"/>
              </a:lnSpc>
              <a:buNone/>
            </a:pPr>
            <a:r>
              <a:rPr lang="en-US" sz="1239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puts words together that usually go together. It has no idea if they are true.</a:t>
            </a:r>
            <a:endParaRPr lang="en-US" sz="1239" dirty="0"/>
          </a:p>
        </p:txBody>
      </p:sp>
      <p:sp>
        <p:nvSpPr>
          <p:cNvPr id="8" name="Shape 6"/>
          <p:cNvSpPr/>
          <p:nvPr/>
        </p:nvSpPr>
        <p:spPr>
          <a:xfrm>
            <a:off x="1021080" y="3160157"/>
            <a:ext cx="4777740" cy="379254"/>
          </a:xfrm>
          <a:prstGeom prst="roundRect">
            <a:avLst>
              <a:gd name="adj" fmla="val 16743"/>
            </a:avLst>
          </a:prstGeom>
          <a:solidFill>
            <a:srgbClr val="F2E8DA"/>
          </a:solidFill>
          <a:ln/>
        </p:spPr>
      </p:sp>
      <p:sp>
        <p:nvSpPr>
          <p:cNvPr id="9" name="Text 7"/>
          <p:cNvSpPr/>
          <p:nvPr/>
        </p:nvSpPr>
        <p:spPr>
          <a:xfrm>
            <a:off x="1135380" y="3249057"/>
            <a:ext cx="4685614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you:</a:t>
            </a:r>
            <a:r>
              <a:rPr lang="en-US" sz="1159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Check every number, clause and name.</a:t>
            </a:r>
            <a:endParaRPr lang="en-US" sz="1159" dirty="0"/>
          </a:p>
        </p:txBody>
      </p:sp>
      <p:sp>
        <p:nvSpPr>
          <p:cNvPr id="10" name="Shape 8"/>
          <p:cNvSpPr/>
          <p:nvPr/>
        </p:nvSpPr>
        <p:spPr>
          <a:xfrm>
            <a:off x="6188075" y="1834356"/>
            <a:ext cx="5187950" cy="1910159"/>
          </a:xfrm>
          <a:prstGeom prst="roundRect">
            <a:avLst>
              <a:gd name="adj" fmla="val 515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3180" y="2039463"/>
            <a:ext cx="492107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93180" y="2369663"/>
            <a:ext cx="4921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book beats memory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3180" y="2674463"/>
            <a:ext cx="49796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are far better when the AI reads your documents first.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93180" y="2981802"/>
            <a:ext cx="4777740" cy="391160"/>
          </a:xfrm>
          <a:prstGeom prst="roundRect">
            <a:avLst>
              <a:gd name="adj" fmla="val 16234"/>
            </a:avLst>
          </a:prstGeom>
          <a:solidFill>
            <a:srgbClr val="F2E8DA"/>
          </a:solidFill>
          <a:ln/>
        </p:spPr>
        <p:txBody>
          <a:bodyPr wrap="square" lIns="95701" tIns="70301" rIns="0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you: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Upload the NBC, the brief or the report.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975" y="3928666"/>
            <a:ext cx="5187950" cy="1910159"/>
          </a:xfrm>
          <a:prstGeom prst="roundRect">
            <a:avLst>
              <a:gd name="adj" fmla="val 515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080" y="4133772"/>
            <a:ext cx="4921072" cy="26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19"/>
              </a:lnSpc>
              <a:buNone/>
            </a:pPr>
            <a:r>
              <a:rPr lang="en-US" sz="1919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919" dirty="0"/>
          </a:p>
        </p:txBody>
      </p:sp>
      <p:sp>
        <p:nvSpPr>
          <p:cNvPr id="17" name="Text 15"/>
          <p:cNvSpPr/>
          <p:nvPr/>
        </p:nvSpPr>
        <p:spPr>
          <a:xfrm>
            <a:off x="1021080" y="4449763"/>
            <a:ext cx="4921072" cy="24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434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 your working</a:t>
            </a:r>
            <a:endParaRPr lang="en-US" sz="1434" dirty="0"/>
          </a:p>
        </p:txBody>
      </p:sp>
      <p:sp>
        <p:nvSpPr>
          <p:cNvPr id="18" name="Text 16"/>
          <p:cNvSpPr/>
          <p:nvPr/>
        </p:nvSpPr>
        <p:spPr>
          <a:xfrm>
            <a:off x="1021080" y="4741785"/>
            <a:ext cx="4921072" cy="46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5"/>
              </a:lnSpc>
              <a:buNone/>
            </a:pPr>
            <a:r>
              <a:rPr lang="en-US" sz="1239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Asking for step-by-step answers, like a school maths paper, cuts mistakes.</a:t>
            </a:r>
            <a:endParaRPr lang="en-US" sz="1239" dirty="0"/>
          </a:p>
        </p:txBody>
      </p:sp>
      <p:sp>
        <p:nvSpPr>
          <p:cNvPr id="19" name="Shape 17"/>
          <p:cNvSpPr/>
          <p:nvPr/>
        </p:nvSpPr>
        <p:spPr>
          <a:xfrm>
            <a:off x="1021080" y="5254467"/>
            <a:ext cx="4777740" cy="379254"/>
          </a:xfrm>
          <a:prstGeom prst="roundRect">
            <a:avLst>
              <a:gd name="adj" fmla="val 16743"/>
            </a:avLst>
          </a:prstGeom>
          <a:solidFill>
            <a:srgbClr val="F2E8DA"/>
          </a:solidFill>
          <a:ln/>
        </p:spPr>
      </p:sp>
      <p:sp>
        <p:nvSpPr>
          <p:cNvPr id="20" name="Text 18"/>
          <p:cNvSpPr/>
          <p:nvPr/>
        </p:nvSpPr>
        <p:spPr>
          <a:xfrm>
            <a:off x="1135380" y="5343367"/>
            <a:ext cx="4685614" cy="226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you:</a:t>
            </a:r>
            <a:r>
              <a:rPr lang="en-US" sz="1159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Add “show every step” to calculations.</a:t>
            </a:r>
            <a:endParaRPr lang="en-US" sz="1159" dirty="0"/>
          </a:p>
        </p:txBody>
      </p:sp>
      <p:sp>
        <p:nvSpPr>
          <p:cNvPr id="21" name="Shape 19"/>
          <p:cNvSpPr/>
          <p:nvPr/>
        </p:nvSpPr>
        <p:spPr>
          <a:xfrm>
            <a:off x="6188075" y="3928666"/>
            <a:ext cx="5187950" cy="1910159"/>
          </a:xfrm>
          <a:prstGeom prst="roundRect">
            <a:avLst>
              <a:gd name="adj" fmla="val 515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3180" y="4133772"/>
            <a:ext cx="492107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93180" y="4463972"/>
            <a:ext cx="4921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at some jobs, bad at similar ones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93180" y="4768772"/>
            <a:ext cx="49210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 at a letter, then wrong on a table that looks just as easy.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93180" y="5076112"/>
            <a:ext cx="4777740" cy="391160"/>
          </a:xfrm>
          <a:prstGeom prst="roundRect">
            <a:avLst>
              <a:gd name="adj" fmla="val 16234"/>
            </a:avLst>
          </a:prstGeom>
          <a:solidFill>
            <a:srgbClr val="F2E8DA"/>
          </a:solidFill>
          <a:ln/>
        </p:spPr>
        <p:txBody>
          <a:bodyPr wrap="square" lIns="95701" tIns="70301" rIns="0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you: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Never assume; check each new kind of task.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39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3888" y="6238239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35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AN LLM? · STRENGTHS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AI does well, and where it fails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5175250" cy="2595880"/>
          </a:xfrm>
          <a:prstGeom prst="roundRect">
            <a:avLst>
              <a:gd name="adj" fmla="val 379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480" y="2087882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6680" y="2092961"/>
            <a:ext cx="226456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at: let it draft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4712" y="2418082"/>
            <a:ext cx="4769815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and polishing letters, reports and specs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Summarising long documents and meetings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Turning messy notes into neat tables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Suggesting ideas and questions to ask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Translating between Nepali and English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small computer scripts and Excel formulas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75" y="1857375"/>
            <a:ext cx="5175250" cy="2595880"/>
          </a:xfrm>
          <a:prstGeom prst="roundRect">
            <a:avLst>
              <a:gd name="adj" fmla="val 379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9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1280" y="2087882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1480" y="2092961"/>
            <a:ext cx="29573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Weak at: you must check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09512" y="2418082"/>
            <a:ext cx="4769815" cy="183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Maths and unit conversions (use a calculator)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Latest NBC, bylaws and district rates, unless you upload them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Giving real sources from memory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Understanding drawings accurately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Knowing when it is wrong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Taking responsibility for a design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/ 35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DATA SAYS · SURVEY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 firms using AI (UK)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of UK architecture practices using AI, at least now and then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5461000"/>
            <a:ext cx="5715000" cy="19050"/>
          </a:xfrm>
          <a:prstGeom prst="rect">
            <a:avLst/>
          </a:prstGeom>
          <a:solidFill>
            <a:srgbClr val="2B1D1A"/>
          </a:solidFill>
          <a:ln/>
        </p:spPr>
      </p:sp>
      <p:sp>
        <p:nvSpPr>
          <p:cNvPr id="6" name="Shape 4"/>
          <p:cNvSpPr/>
          <p:nvPr/>
        </p:nvSpPr>
        <p:spPr>
          <a:xfrm>
            <a:off x="1320800" y="4216400"/>
            <a:ext cx="1270000" cy="1244600"/>
          </a:xfrm>
          <a:custGeom>
            <a:avLst/>
            <a:gdLst/>
            <a:ahLst/>
            <a:cxnLst/>
            <a:rect l="l" t="t" r="r" b="b"/>
            <a:pathLst>
              <a:path w="1270000" h="1244600">
                <a:moveTo>
                  <a:pt x="5080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1244600"/>
                </a:lnTo>
                <a:lnTo>
                  <a:pt x="0" y="12446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8B7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810000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41%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5549900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25800" y="3663950"/>
            <a:ext cx="1270000" cy="1797050"/>
          </a:xfrm>
          <a:custGeom>
            <a:avLst/>
            <a:gdLst/>
            <a:ahLst/>
            <a:cxnLst/>
            <a:rect l="l" t="t" r="r" b="b"/>
            <a:pathLst>
              <a:path w="1270000" h="1797050">
                <a:moveTo>
                  <a:pt x="5080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1797050"/>
                </a:lnTo>
                <a:lnTo>
                  <a:pt x="0" y="17970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8B7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3257550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5549900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30800" y="3206750"/>
            <a:ext cx="1270000" cy="2254250"/>
          </a:xfrm>
          <a:custGeom>
            <a:avLst/>
            <a:gdLst/>
            <a:ahLst/>
            <a:cxnLst/>
            <a:rect l="l" t="t" r="r" b="b"/>
            <a:pathLst>
              <a:path w="1270000" h="2254250">
                <a:moveTo>
                  <a:pt x="50800" y="0"/>
                </a:moveTo>
                <a:lnTo>
                  <a:pt x="1219200" y="0"/>
                </a:lnTo>
                <a:arcTo wR="50800" hR="50800" stAng="16200000" swAng="5400000"/>
                <a:lnTo>
                  <a:pt x="1270000" y="2254250"/>
                </a:lnTo>
                <a:lnTo>
                  <a:pt x="0" y="22542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A3463D"/>
          </a:solidFill>
          <a:ln/>
        </p:spPr>
      </p:sp>
      <p:sp>
        <p:nvSpPr>
          <p:cNvPr id="13" name="Text 11"/>
          <p:cNvSpPr/>
          <p:nvPr/>
        </p:nvSpPr>
        <p:spPr>
          <a:xfrm>
            <a:off x="5105400" y="2800350"/>
            <a:ext cx="13208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74%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05400" y="5549900"/>
            <a:ext cx="132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94550" y="2032000"/>
            <a:ext cx="0" cy="941070"/>
          </a:xfrm>
          <a:prstGeom prst="line">
            <a:avLst/>
          </a:prstGeom>
          <a:noFill/>
          <a:ln w="38100">
            <a:solidFill>
              <a:srgbClr val="A34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3460" y="2032000"/>
            <a:ext cx="41362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74%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63460" y="2527300"/>
            <a:ext cx="413621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UK practices now use AI; almost double two years ago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94550" y="3238500"/>
            <a:ext cx="0" cy="718185"/>
          </a:xfrm>
          <a:prstGeom prst="line">
            <a:avLst/>
          </a:prstGeom>
          <a:noFill/>
          <a:ln w="38100">
            <a:solidFill>
              <a:srgbClr val="A34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3460" y="3238500"/>
            <a:ext cx="41362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363460" y="3733800"/>
            <a:ext cx="413621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AI actually made their designs better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94550" y="4445000"/>
            <a:ext cx="0" cy="718185"/>
          </a:xfrm>
          <a:prstGeom prst="line">
            <a:avLst/>
          </a:prstGeom>
          <a:noFill/>
          <a:ln w="38100">
            <a:solidFill>
              <a:srgbClr val="A34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3460" y="4445000"/>
            <a:ext cx="41362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59%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363460" y="4940300"/>
            <a:ext cx="413621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 AI to cost jobs in the profession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50711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RIBA Artificial Intelligence Reports 2024, 2025,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/ 35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0847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2A0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DATA SAYS · WHERE TIME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275842"/>
            <a:ext cx="450294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0"/>
              </a:lnSpc>
              <a:buNone/>
            </a:pPr>
            <a:r>
              <a:rPr lang="en-US" sz="16000" b="1" dirty="0">
                <a:solidFill>
                  <a:srgbClr val="F2A0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35%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315744" y="2529842"/>
            <a:ext cx="588645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construction professionals’ time goes on unproductive work: hunting for information, sorting out disputes, fixing mistakes.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561842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D9C2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is more than 14 hours a week. Much of it is reading and writing, which AI is good at.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A8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FMI &amp; PlanGrid, Construction Disconnected (2018, USA) · 10 / 35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TOOLS? · POPULAR LLMS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main AI assistants, September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9280"/>
            <a:ext cx="105664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880" y="1854200"/>
            <a:ext cx="0" cy="302260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" y="1953260"/>
          <a:ext cx="10327640" cy="2834640"/>
        </p:xfrm>
        <a:graphic>
          <a:graphicData uri="http://schemas.openxmlformats.org/drawingml/2006/table">
            <a:tbl>
              <a:tblPr/>
              <a:tblGrid>
                <a:gridCol w="1652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7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Assistant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4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Company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4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Current models*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4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Good for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4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ChatGPT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OpenAI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GPT-6 family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All-rounder: writing, pictures, Excel-style analysis, voice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Anthropic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Fable, Opus, Sonnet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Long documents, specs and contracts; careful writing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Gemini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Google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3.1 Pro, 3.8 Flash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Very long files, photos and video; works with Gmail and Google Drive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Copilot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Microsoft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OpenAI and other models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Inside Word, Excel, Outlook and Teams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models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DeepSeek, Qwen, Llama, Mistral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on your own computer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Private files that must not leave the office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181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*Model names change every few months. All have free versions that work in Nepal on phone or laptop.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35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TOOLS? · BY JOB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the right tool for the job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3380264" cy="1761490"/>
          </a:xfrm>
          <a:prstGeom prst="roundRect">
            <a:avLst>
              <a:gd name="adj" fmla="val 558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5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480" y="2087879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443479"/>
            <a:ext cx="30068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NotebookLM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46480" y="2748279"/>
            <a:ext cx="300683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Answers only from files you upload, such as NBC or soil reports, and shows where. Still check.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89" y="1857375"/>
            <a:ext cx="3380343" cy="1761490"/>
          </a:xfrm>
          <a:prstGeom prst="roundRect">
            <a:avLst>
              <a:gd name="adj" fmla="val 558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9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6294" y="2087879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6294" y="2443479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Perplexity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36294" y="2748279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Searches the web and gives links: suppliers, product data, standards.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682" y="1857375"/>
            <a:ext cx="3380343" cy="1761490"/>
          </a:xfrm>
          <a:prstGeom prst="roundRect">
            <a:avLst>
              <a:gd name="adj" fmla="val 558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13" name="Image 2" descr="Databas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6187" y="2087879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6187" y="2443479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6187" y="2748279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ChatGPT or Claude: keep one project's brief, specs and minutes together.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828417"/>
            <a:ext cx="3380264" cy="1548130"/>
          </a:xfrm>
          <a:prstGeom prst="roundRect">
            <a:avLst>
              <a:gd name="adj" fmla="val 635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17" name="Image 3" descr="Loc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6480" y="4058921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6480" y="4414521"/>
            <a:ext cx="30068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Offline AI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46480" y="4719321"/>
            <a:ext cx="30068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Ollama or LM Studio run AI on your own PC. Nothing goes online.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05789" y="3828417"/>
            <a:ext cx="3380343" cy="1548130"/>
          </a:xfrm>
          <a:prstGeom prst="roundRect">
            <a:avLst>
              <a:gd name="adj" fmla="val 635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21" name="Image 4" descr="Cod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6294" y="4058921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6294" y="4414521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Scripts and Excel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36294" y="4719321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Excel formulas, Python, Dynamo and Grasshopper scripts, automation.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95682" y="3828417"/>
            <a:ext cx="3380343" cy="1548130"/>
          </a:xfrm>
          <a:prstGeom prst="roundRect">
            <a:avLst>
              <a:gd name="adj" fmla="val 635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25" name="Image 5" descr="Lightbulb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6187" y="4058921"/>
            <a:ext cx="279400" cy="279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26187" y="4414521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 tools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26187" y="4719321"/>
            <a:ext cx="300691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Mood boards and concept pictures from a description. Ideas, not design.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35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ASK WELL · PROCESS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steps to use AI on real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3143250" cy="1644650"/>
          </a:xfrm>
          <a:prstGeom prst="roundRect">
            <a:avLst>
              <a:gd name="adj" fmla="val 598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49779"/>
            <a:ext cx="281503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1080" y="2367279"/>
            <a:ext cx="2815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Decide the job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080" y="2674621"/>
            <a:ext cx="28150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clear output: a brief, a table, a letter, a checklist.</a:t>
            </a:r>
            <a:endParaRPr lang="en-US" sz="1200" dirty="0"/>
          </a:p>
        </p:txBody>
      </p:sp>
      <p:pic>
        <p:nvPicPr>
          <p:cNvPr id="8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62400" y="2616200"/>
            <a:ext cx="558800" cy="10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4375" y="1844675"/>
            <a:ext cx="3143250" cy="1644650"/>
          </a:xfrm>
          <a:prstGeom prst="roundRect">
            <a:avLst>
              <a:gd name="adj" fmla="val 598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9480" y="2049779"/>
            <a:ext cx="281503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29480" y="2367279"/>
            <a:ext cx="2815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your 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29480" y="2674621"/>
            <a:ext cx="28150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Public, internal or private? This decides which tool you may use.</a:t>
            </a:r>
            <a:endParaRPr lang="en-US" sz="1200" dirty="0"/>
          </a:p>
        </p:txBody>
      </p:sp>
      <p:pic>
        <p:nvPicPr>
          <p:cNvPr id="13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0800" y="2616200"/>
            <a:ext cx="558800" cy="101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32775" y="1844675"/>
            <a:ext cx="3143250" cy="1644650"/>
          </a:xfrm>
          <a:prstGeom prst="roundRect">
            <a:avLst>
              <a:gd name="adj" fmla="val 598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37880" y="2049779"/>
            <a:ext cx="281503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437880" y="2367279"/>
            <a:ext cx="2815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 it material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37880" y="2674621"/>
            <a:ext cx="28150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 the brief, drawings, code pages or past examples.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5975" y="3940175"/>
            <a:ext cx="3143250" cy="1644650"/>
          </a:xfrm>
          <a:prstGeom prst="roundRect">
            <a:avLst>
              <a:gd name="adj" fmla="val 598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21080" y="4145279"/>
            <a:ext cx="281503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021080" y="4462779"/>
            <a:ext cx="2815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clearly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21080" y="4770121"/>
            <a:ext cx="28150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who it should act as, the goal, the facts, the steps, the format.</a:t>
            </a:r>
            <a:endParaRPr lang="en-US" sz="1200" dirty="0"/>
          </a:p>
        </p:txBody>
      </p:sp>
      <p:pic>
        <p:nvPicPr>
          <p:cNvPr id="22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62400" y="4711700"/>
            <a:ext cx="558800" cy="101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524375" y="3940175"/>
            <a:ext cx="3143250" cy="1644650"/>
          </a:xfrm>
          <a:prstGeom prst="roundRect">
            <a:avLst>
              <a:gd name="adj" fmla="val 598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29480" y="4145279"/>
            <a:ext cx="281503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4729480" y="4462779"/>
            <a:ext cx="2815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Improve the answer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729480" y="4770121"/>
            <a:ext cx="28150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follow-ups: “what did you miss?”, “make it shorter”.</a:t>
            </a:r>
            <a:endParaRPr lang="en-US" sz="1200" dirty="0"/>
          </a:p>
        </p:txBody>
      </p:sp>
      <p:pic>
        <p:nvPicPr>
          <p:cNvPr id="27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0800" y="4711700"/>
            <a:ext cx="558800" cy="1016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232775" y="3940175"/>
            <a:ext cx="3143250" cy="1644650"/>
          </a:xfrm>
          <a:prstGeom prst="roundRect">
            <a:avLst>
              <a:gd name="adj" fmla="val 5985"/>
            </a:avLst>
          </a:prstGeom>
          <a:solidFill>
            <a:srgbClr val="A3463D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437880" y="4145279"/>
            <a:ext cx="281503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8437880" y="4462779"/>
            <a:ext cx="28150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and own it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437880" y="4770121"/>
            <a:ext cx="2815031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numbers, clauses and sources. You sign, so you decide.</a:t>
            </a:r>
            <a:endParaRPr lang="en-US" sz="1200" dirty="0"/>
          </a:p>
        </p:txBody>
      </p:sp>
      <p:pic>
        <p:nvPicPr>
          <p:cNvPr id="32" name="Image 4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36800" y="3479800"/>
            <a:ext cx="7518400" cy="4699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35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ASK WELL · GOOD VS BAD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Escape the one-line prompt trap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60550"/>
            <a:ext cx="5168900" cy="2590800"/>
          </a:xfrm>
          <a:prstGeom prst="roundRect">
            <a:avLst>
              <a:gd name="adj" fmla="val 3676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5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6960" y="2118364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7160" y="2123442"/>
            <a:ext cx="244335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prompt: one 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6960" y="2473964"/>
            <a:ext cx="47928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“Write a commercial building design strategy.”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6960" y="2842264"/>
            <a:ext cx="47928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happens:</a:t>
            </a: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vague, general answer that could be for any city in the world. You keep retrying and wasting time.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6960" y="3406142"/>
            <a:ext cx="47928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like telling a new junior engineer “do the building” and walking away.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3950" y="1860550"/>
            <a:ext cx="5168900" cy="2590800"/>
          </a:xfrm>
          <a:prstGeom prst="roundRect">
            <a:avLst>
              <a:gd name="adj" fmla="val 3676"/>
            </a:avLst>
          </a:prstGeom>
          <a:solidFill>
            <a:srgbClr val="E8EFF4"/>
          </a:solidFill>
          <a:ln w="12700">
            <a:solidFill>
              <a:srgbClr val="2F5D7C"/>
            </a:solidFill>
            <a:prstDash val="solid"/>
          </a:ln>
        </p:spPr>
      </p:sp>
      <p:pic>
        <p:nvPicPr>
          <p:cNvPr id="11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61760" y="2118364"/>
            <a:ext cx="254000" cy="25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91960" y="2123442"/>
            <a:ext cx="365864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prompt: a proper briefing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61760" y="2473964"/>
            <a:ext cx="479287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“Act as an architectural consultant. I am planning a 6-storey commercial building on a 10-aana plot in Kathmandu. Suggest a design strategy for shops, offices and parking. Consider seismic safety, municipal bylaws and monsoon drainage. Give a table, and list your assumptions.”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61760" y="3731264"/>
            <a:ext cx="479287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happens:</a:t>
            </a: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focused, local, usable first draft on the first try.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35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ASK WELL · RECIPE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six parts of a good prompt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6604000" cy="3327400"/>
          </a:xfrm>
          <a:prstGeom prst="roundRect">
            <a:avLst>
              <a:gd name="adj" fmla="val 3053"/>
            </a:avLst>
          </a:prstGeom>
          <a:solidFill>
            <a:srgbClr val="2B1D1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08200"/>
            <a:ext cx="6278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A0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[ROLE]</a:t>
            </a: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Act as an architectural assistant for a design firm in Kathmandu.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440942"/>
            <a:ext cx="62788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EC5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[GOAL]</a:t>
            </a: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Turn the attached client email into a clear design brief.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773679"/>
            <a:ext cx="6278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8D5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[CONTEXT]</a:t>
            </a: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Residential duplex in Jhamsikhel, Lalitpur; plot [__] aana; family of [__]; budget about NPR [__] lakh; Lalitpur Metropolitan City bylaws apply.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3337564"/>
            <a:ext cx="6278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A6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[ACTION]</a:t>
            </a: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1) List what the client wants. 2) Mark what is fact and what is your guess. 3) List what is missing.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901442"/>
            <a:ext cx="6278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D0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[OUTPUT]</a:t>
            </a: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table: need | words from the email | fact or guess. Then up to 10 questions for the client.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4465321"/>
            <a:ext cx="6278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B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[LIMITS]</a:t>
            </a: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Do not invent sizes or bylaw figures. If something is not stated, write “not stated”.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21600" y="2231392"/>
            <a:ext cx="1143000" cy="289560"/>
          </a:xfrm>
          <a:prstGeom prst="roundRect">
            <a:avLst>
              <a:gd name="adj" fmla="val 17544"/>
            </a:avLst>
          </a:prstGeom>
          <a:solidFill>
            <a:srgbClr val="F2A04E"/>
          </a:solidFill>
          <a:ln/>
        </p:spPr>
        <p:txBody>
          <a:bodyPr wrap="square" lIns="48621" tIns="23221" rIns="486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6200" y="2269492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should the AI pretend to be?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1600" y="2660650"/>
            <a:ext cx="1143000" cy="289560"/>
          </a:xfrm>
          <a:prstGeom prst="roundRect">
            <a:avLst>
              <a:gd name="adj" fmla="val 17544"/>
            </a:avLst>
          </a:prstGeom>
          <a:solidFill>
            <a:srgbClr val="8EC5E8"/>
          </a:solidFill>
          <a:ln/>
        </p:spPr>
        <p:txBody>
          <a:bodyPr wrap="square" lIns="48621" tIns="23221" rIns="486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6200" y="269875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exactly do you want back?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21600" y="3089914"/>
            <a:ext cx="1143000" cy="289560"/>
          </a:xfrm>
          <a:prstGeom prst="roundRect">
            <a:avLst>
              <a:gd name="adj" fmla="val 17544"/>
            </a:avLst>
          </a:prstGeom>
          <a:solidFill>
            <a:srgbClr val="A8D5A2"/>
          </a:solidFill>
          <a:ln/>
        </p:spPr>
        <p:txBody>
          <a:bodyPr wrap="square" lIns="48621" tIns="23221" rIns="486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6200" y="3128014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facts and local 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1600" y="3519171"/>
            <a:ext cx="1143000" cy="289560"/>
          </a:xfrm>
          <a:prstGeom prst="roundRect">
            <a:avLst>
              <a:gd name="adj" fmla="val 17544"/>
            </a:avLst>
          </a:prstGeom>
          <a:solidFill>
            <a:srgbClr val="F4A6B8"/>
          </a:solidFill>
          <a:ln/>
        </p:spPr>
        <p:txBody>
          <a:bodyPr wrap="square" lIns="48621" tIns="23221" rIns="486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6200" y="3557271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steps, in order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1600" y="4017014"/>
            <a:ext cx="1143000" cy="289560"/>
          </a:xfrm>
          <a:prstGeom prst="roundRect">
            <a:avLst>
              <a:gd name="adj" fmla="val 17544"/>
            </a:avLst>
          </a:prstGeom>
          <a:solidFill>
            <a:srgbClr val="F2D06B"/>
          </a:solidFill>
          <a:ln/>
        </p:spPr>
        <p:txBody>
          <a:bodyPr wrap="square" lIns="48621" tIns="23221" rIns="486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6200" y="3948429"/>
            <a:ext cx="248539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shape of the answer: table, list, letter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1600" y="4514850"/>
            <a:ext cx="1143000" cy="289560"/>
          </a:xfrm>
          <a:prstGeom prst="roundRect">
            <a:avLst>
              <a:gd name="adj" fmla="val 17544"/>
            </a:avLst>
          </a:prstGeom>
          <a:solidFill>
            <a:srgbClr val="C8B6F0"/>
          </a:solidFill>
          <a:ln/>
        </p:spPr>
        <p:txBody>
          <a:bodyPr wrap="square" lIns="48621" tIns="23221" rIns="48621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6200" y="4552950"/>
            <a:ext cx="24853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must not 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35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ASK WELL · TECHNIQUES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basic ways to ask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5175250" cy="1504950"/>
          </a:xfrm>
          <a:prstGeom prst="roundRect">
            <a:avLst>
              <a:gd name="adj" fmla="val 6540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87885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Just ask (zero-shot)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407927"/>
            <a:ext cx="48556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directly, with no examples.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6480" y="2715258"/>
            <a:ext cx="4714240" cy="416560"/>
          </a:xfrm>
          <a:prstGeom prst="roundRect">
            <a:avLst>
              <a:gd name="adj" fmla="val 15244"/>
            </a:avLst>
          </a:prstGeom>
          <a:solidFill>
            <a:srgbClr val="2B1D1A"/>
          </a:solidFill>
          <a:ln/>
        </p:spPr>
        <p:txBody>
          <a:bodyPr wrap="square" lIns="143961" tIns="83001" rIns="0" bIns="576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“Summarise this soil test report in five points for the client.”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6480" y="2715258"/>
            <a:ext cx="4714240" cy="416560"/>
          </a:xfrm>
          <a:custGeom>
            <a:avLst/>
            <a:gdLst/>
            <a:ahLst/>
            <a:cxnLst/>
            <a:rect l="l" t="t" r="r" b="b"/>
            <a:pathLst>
              <a:path w="4714240" h="416560">
                <a:moveTo>
                  <a:pt x="63500" y="416560"/>
                </a:moveTo>
                <a:lnTo>
                  <a:pt x="63500" y="41656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353060"/>
                </a:lnTo>
                <a:arcTo wR="25400" hR="63500" stAng="10800000" swAng="-5400000"/>
                <a:close/>
              </a:path>
            </a:pathLst>
          </a:custGeom>
          <a:solidFill>
            <a:srgbClr val="A3463D"/>
          </a:solidFill>
          <a:ln/>
        </p:spPr>
      </p:sp>
      <p:sp>
        <p:nvSpPr>
          <p:cNvPr id="9" name="Shape 7"/>
          <p:cNvSpPr/>
          <p:nvPr/>
        </p:nvSpPr>
        <p:spPr>
          <a:xfrm>
            <a:off x="6200775" y="1857375"/>
            <a:ext cx="5175250" cy="1504950"/>
          </a:xfrm>
          <a:prstGeom prst="roundRect">
            <a:avLst>
              <a:gd name="adj" fmla="val 6540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1280" y="2087885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 examples (few-shot)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1280" y="2407927"/>
            <a:ext cx="48556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one to three samples of what you want.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31280" y="2715258"/>
            <a:ext cx="4714240" cy="416560"/>
          </a:xfrm>
          <a:prstGeom prst="roundRect">
            <a:avLst>
              <a:gd name="adj" fmla="val 15244"/>
            </a:avLst>
          </a:prstGeom>
          <a:solidFill>
            <a:srgbClr val="2B1D1A"/>
          </a:solidFill>
          <a:ln/>
        </p:spPr>
        <p:txBody>
          <a:bodyPr wrap="square" lIns="143961" tIns="83001" rIns="0" bIns="576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two old RFIs, then: “Write the next RFI in the same style.”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31280" y="2715258"/>
            <a:ext cx="4714240" cy="416560"/>
          </a:xfrm>
          <a:custGeom>
            <a:avLst/>
            <a:gdLst/>
            <a:ahLst/>
            <a:cxnLst/>
            <a:rect l="l" t="t" r="r" b="b"/>
            <a:pathLst>
              <a:path w="4714240" h="416560">
                <a:moveTo>
                  <a:pt x="63500" y="416560"/>
                </a:moveTo>
                <a:lnTo>
                  <a:pt x="63500" y="41656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353060"/>
                </a:lnTo>
                <a:arcTo wR="25400" hR="63500" stAng="10800000" swAng="-5400000"/>
                <a:close/>
              </a:path>
            </a:pathLst>
          </a:custGeom>
          <a:solidFill>
            <a:srgbClr val="A346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15975" y="3571875"/>
            <a:ext cx="5175250" cy="1718310"/>
          </a:xfrm>
          <a:prstGeom prst="roundRect">
            <a:avLst>
              <a:gd name="adj" fmla="val 572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480" y="3802385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 it a role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6480" y="4122427"/>
            <a:ext cx="48556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 it which professional to act as, and for whom.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6480" y="4429758"/>
            <a:ext cx="4714240" cy="629920"/>
          </a:xfrm>
          <a:prstGeom prst="roundRect">
            <a:avLst>
              <a:gd name="adj" fmla="val 10081"/>
            </a:avLst>
          </a:prstGeom>
          <a:solidFill>
            <a:srgbClr val="2B1D1A"/>
          </a:solidFill>
          <a:ln/>
        </p:spPr>
        <p:txBody>
          <a:bodyPr wrap="square" lIns="143961" tIns="83001" rIns="0" bIns="576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“Act as a quantity surveyor in Nepal, explaining to a first-time house builder.”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6480" y="4429758"/>
            <a:ext cx="4714240" cy="629920"/>
          </a:xfrm>
          <a:custGeom>
            <a:avLst/>
            <a:gdLst/>
            <a:ahLst/>
            <a:cxnLst/>
            <a:rect l="l" t="t" r="r" b="b"/>
            <a:pathLst>
              <a:path w="4714240" h="629920">
                <a:moveTo>
                  <a:pt x="63500" y="629920"/>
                </a:moveTo>
                <a:lnTo>
                  <a:pt x="63500" y="62992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566420"/>
                </a:lnTo>
                <a:arcTo wR="25400" hR="63500" stAng="10800000" swAng="-5400000"/>
                <a:close/>
              </a:path>
            </a:pathLst>
          </a:custGeom>
          <a:solidFill>
            <a:srgbClr val="A3463D"/>
          </a:solidFill>
          <a:ln/>
        </p:spPr>
      </p:sp>
      <p:sp>
        <p:nvSpPr>
          <p:cNvPr id="19" name="Shape 17"/>
          <p:cNvSpPr/>
          <p:nvPr/>
        </p:nvSpPr>
        <p:spPr>
          <a:xfrm>
            <a:off x="6200775" y="3571875"/>
            <a:ext cx="5175250" cy="1718310"/>
          </a:xfrm>
          <a:prstGeom prst="roundRect">
            <a:avLst>
              <a:gd name="adj" fmla="val 572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1280" y="3802385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 your working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1280" y="4122427"/>
            <a:ext cx="48556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 it to go step by step, like a maths exam.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31280" y="4429758"/>
            <a:ext cx="4714240" cy="416560"/>
          </a:xfrm>
          <a:prstGeom prst="roundRect">
            <a:avLst>
              <a:gd name="adj" fmla="val 15244"/>
            </a:avLst>
          </a:prstGeom>
          <a:solidFill>
            <a:srgbClr val="2B1D1A"/>
          </a:solidFill>
          <a:ln/>
        </p:spPr>
        <p:txBody>
          <a:bodyPr wrap="square" lIns="143961" tIns="83001" rIns="0" bIns="576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“Show every step with units before giving the final number.”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31280" y="4429758"/>
            <a:ext cx="4714240" cy="416560"/>
          </a:xfrm>
          <a:custGeom>
            <a:avLst/>
            <a:gdLst/>
            <a:ahLst/>
            <a:cxnLst/>
            <a:rect l="l" t="t" r="r" b="b"/>
            <a:pathLst>
              <a:path w="4714240" h="416560">
                <a:moveTo>
                  <a:pt x="63500" y="416560"/>
                </a:moveTo>
                <a:lnTo>
                  <a:pt x="63500" y="41656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353060"/>
                </a:lnTo>
                <a:arcTo wR="25400" hR="63500" stAng="10800000" swAng="-5400000"/>
                <a:close/>
              </a:path>
            </a:pathLst>
          </a:custGeom>
          <a:solidFill>
            <a:srgbClr val="A3463D"/>
          </a:solidFill>
          <a:ln/>
        </p:spPr>
      </p:sp>
      <p:sp>
        <p:nvSpPr>
          <p:cNvPr id="24" name="Text 22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35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ASK WELL · CHECKING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Always check the AI's maths: an example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54200"/>
            <a:ext cx="664514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Question: 45 m³ of M20 concrete, mix 1:1.5:3. How many cement bags, and how much sand and aggregate?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509522"/>
            <a:ext cx="64516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7880" y="2504442"/>
            <a:ext cx="0" cy="197231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" y="2603502"/>
          <a:ext cx="6212840" cy="1784350"/>
        </p:xfrm>
        <a:graphic>
          <a:graphicData uri="http://schemas.openxmlformats.org/drawingml/2006/table">
            <a:tbl>
              <a:tblPr/>
              <a:tblGrid>
                <a:gridCol w="13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Hand check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Dry volume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45 m³ × 1.54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69.30 m³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4D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Cement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69.30 ÷ 5.5 × 1440 kg ÷ 50 kg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363 bags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Sand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12.60 m³ × 1.5 × 35.31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667 cft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Aggregate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12.60 m³ × 3 × 35.31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1,335 cft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4629150"/>
            <a:ext cx="66451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the AI’s answer is different, find out why before it goes to a client or supplier.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69200" y="1854200"/>
            <a:ext cx="3810000" cy="3006090"/>
          </a:xfrm>
          <a:prstGeom prst="roundRect">
            <a:avLst>
              <a:gd name="adj" fmla="val 3380"/>
            </a:avLst>
          </a:prstGeom>
          <a:solidFill>
            <a:srgbClr val="F2E8DA"/>
          </a:solidFill>
          <a:ln/>
        </p:spPr>
      </p:sp>
      <p:sp>
        <p:nvSpPr>
          <p:cNvPr id="10" name="Text 7"/>
          <p:cNvSpPr/>
          <p:nvPr/>
        </p:nvSpPr>
        <p:spPr>
          <a:xfrm>
            <a:off x="7797800" y="2082800"/>
            <a:ext cx="34533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 to ask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76032" y="2413000"/>
            <a:ext cx="3367532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Dry volume factor 1.54 used?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Cement 1440 kg/m³, 50 kg bags?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Nominal mix OK, or design mix needed?</a:t>
            </a:r>
            <a:endParaRPr lang="en-US" sz="1400" dirty="0"/>
          </a:p>
          <a:p>
            <a:pPr marL="175768" indent="-175768" algn="l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Wastage (2–5%) added or not?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35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ASK WELL · SAFETY HABITS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habits to avoid AI mistakes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3380264" cy="1253490"/>
          </a:xfrm>
          <a:prstGeom prst="roundRect">
            <a:avLst>
              <a:gd name="adj" fmla="val 785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5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6480" y="2087885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6680" y="2100585"/>
            <a:ext cx="202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for the source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46480" y="2418085"/>
            <a:ext cx="30068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Clause number, page or link. Then open it and read it yourself.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5789" y="1857375"/>
            <a:ext cx="3380343" cy="1253490"/>
          </a:xfrm>
          <a:prstGeom prst="roundRect">
            <a:avLst>
              <a:gd name="adj" fmla="val 785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9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6294" y="2087885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66494" y="2100585"/>
            <a:ext cx="26803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 it say “I don't know”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36294" y="2418085"/>
            <a:ext cx="3006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 it to write “not stated” instead of guessing.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5682" y="1857375"/>
            <a:ext cx="3380343" cy="1253490"/>
          </a:xfrm>
          <a:prstGeom prst="roundRect">
            <a:avLst>
              <a:gd name="adj" fmla="val 785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13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6187" y="2087885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56387" y="2100585"/>
            <a:ext cx="278120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Give it the real document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6187" y="2418085"/>
            <a:ext cx="3006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the actual NBC, report or drawing. Don't trust its memory.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320417"/>
            <a:ext cx="3380264" cy="1253490"/>
          </a:xfrm>
          <a:prstGeom prst="roundRect">
            <a:avLst>
              <a:gd name="adj" fmla="val 785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17" name="Image 3" descr="Cod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46480" y="3550927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6680" y="3563627"/>
            <a:ext cx="17705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a calculator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46480" y="3881127"/>
            <a:ext cx="30068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numbers in Excel or by hand, never trust chat maths alone.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05789" y="3320417"/>
            <a:ext cx="3380343" cy="1253490"/>
          </a:xfrm>
          <a:prstGeom prst="roundRect">
            <a:avLst>
              <a:gd name="adj" fmla="val 785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21" name="Image 4" descr="Lo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36294" y="3550927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66494" y="3563627"/>
            <a:ext cx="207892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 client data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636294" y="3881127"/>
            <a:ext cx="3006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citizenship copies, lalpurja or private client files in free tools.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95682" y="3320417"/>
            <a:ext cx="3380343" cy="1253490"/>
          </a:xfrm>
          <a:prstGeom prst="roundRect">
            <a:avLst>
              <a:gd name="adj" fmla="val 785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pic>
        <p:nvPicPr>
          <p:cNvPr id="25" name="Image 5" descr="Cloc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6187" y="3550927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56387" y="3563627"/>
            <a:ext cx="1522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 a record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26187" y="3881127"/>
            <a:ext cx="3006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 the tool, date, what was checked and by whom.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/ 35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LEGAL SIDE · PRINCIPLES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legal rules, in plain words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5175250" cy="1573530"/>
          </a:xfrm>
          <a:prstGeom prst="roundRect">
            <a:avLst>
              <a:gd name="adj" fmla="val 625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87885"/>
            <a:ext cx="485566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6480" y="2418085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are responsible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6480" y="2738127"/>
            <a:ext cx="48556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cannot hold a licence. The engineer or architect who signs and stamps is fully responsible.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00775" y="1857375"/>
            <a:ext cx="5175250" cy="1573530"/>
          </a:xfrm>
          <a:prstGeom prst="roundRect">
            <a:avLst>
              <a:gd name="adj" fmla="val 625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1280" y="2087885"/>
            <a:ext cx="485566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31280" y="2418085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like a professional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1280" y="2738127"/>
            <a:ext cx="48556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unchecked AI answers for structure or code can be treated as negligence.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3640460"/>
            <a:ext cx="5175250" cy="1573530"/>
          </a:xfrm>
          <a:prstGeom prst="roundRect">
            <a:avLst>
              <a:gd name="adj" fmla="val 625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6480" y="3870958"/>
            <a:ext cx="485566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6480" y="4201158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 secrets secret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6480" y="4521200"/>
            <a:ext cx="48556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Uploading client files to public tools may break confidentiality. AI-only work has weak copyright.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00775" y="3640460"/>
            <a:ext cx="5175250" cy="1573530"/>
          </a:xfrm>
          <a:prstGeom prst="roundRect">
            <a:avLst>
              <a:gd name="adj" fmla="val 625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1280" y="3870958"/>
            <a:ext cx="485566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1280" y="4201158"/>
            <a:ext cx="48556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People approve, not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1280" y="4521200"/>
            <a:ext cx="48556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NBC and bylaw compliance is certified by people. AI is only an unlicensed helper.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/ 35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LEGAL SIDE · REAL CASES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courts and governments have already said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3380264" cy="2444750"/>
          </a:xfrm>
          <a:prstGeom prst="roundRect">
            <a:avLst>
              <a:gd name="adj" fmla="val 402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87885"/>
            <a:ext cx="30068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Fake court cases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6480" y="2407927"/>
            <a:ext cx="30068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USA · Mata v. Avianca · 2023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480" y="2697485"/>
            <a:ext cx="30068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Lawyers were fined US$5,000 for submitting court cases ChatGPT had invented.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6480" y="3467100"/>
            <a:ext cx="2919254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4982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Lesson: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Submitting unchecked AI work is your mistake, not the software's.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789" y="1857375"/>
            <a:ext cx="3380343" cy="2444750"/>
          </a:xfrm>
          <a:prstGeom prst="roundRect">
            <a:avLst>
              <a:gd name="adj" fmla="val 402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294" y="2087885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owns AI work?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6294" y="2407927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 Copyright Office · 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36294" y="2697485"/>
            <a:ext cx="300691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Typing a prompt alone does not make you the author. Your own changes and choices can be protected.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294" y="3467100"/>
            <a:ext cx="2919333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4979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Lesson: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Keep a record of your own design input.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5682" y="1857375"/>
            <a:ext cx="3380343" cy="2444750"/>
          </a:xfrm>
          <a:prstGeom prst="roundRect">
            <a:avLst>
              <a:gd name="adj" fmla="val 402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6187" y="2087885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Europe's AI law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6187" y="2407927"/>
            <a:ext cx="30069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AI Act · in force Aug 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6187" y="2697485"/>
            <a:ext cx="300691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 based on risk, with transparency duties for AI makers.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6187" y="3235958"/>
            <a:ext cx="2919333" cy="604520"/>
          </a:xfrm>
          <a:prstGeom prst="roundRect">
            <a:avLst>
              <a:gd name="adj" fmla="val 10504"/>
            </a:avLst>
          </a:prstGeom>
          <a:solidFill>
            <a:srgbClr val="F2E8DA"/>
          </a:solidFill>
          <a:ln/>
        </p:spPr>
        <p:txBody>
          <a:bodyPr wrap="square" lIns="95701" tIns="70301" rIns="14979" bIns="449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Lesson:</a:t>
            </a:r>
            <a:r>
              <a:rPr lang="en-US" sz="1200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Foreign clients may ask how you use AI.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/ 35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LEGAL SIDE · NEPAL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Nepali law and policy say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9280"/>
            <a:ext cx="105664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880" y="1854200"/>
            <a:ext cx="0" cy="268732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260" y="1940560"/>
          <a:ext cx="10327640" cy="2524760"/>
        </p:xfrm>
        <a:graphic>
          <a:graphicData uri="http://schemas.openxmlformats.org/drawingml/2006/table">
            <a:tbl>
              <a:tblPr/>
              <a:tblGrid>
                <a:gridCol w="330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Law or policy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4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E7D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means for you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4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National AI Policy 2082 (Aug 2025)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government policy, not yet a law. Plans an AI regulator, a National AI Centre, data-protection laws and rules against misuse.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3B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Nepal Engineering Council Act 2055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registered engineers may practise. The registered person, not the tool, is answerable.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Individual Privacy Act 2075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Clients' personal data needs consent and protection. Think before uploading.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Copyright Act 2059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Protects the work of human creators, including architectural works. AI-only work is unclear.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Electronic Transactions Act 2063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Covers e-records and e-signatures, and crimes like accessing data without permission.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NBC, bylaws and naksa pass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1D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is given by people and the municipality. AI summaries help; they never approve.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4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42"/>
            <a:ext cx="81906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awareness only; not legal advice. Confirm details with a lawyer or the Nepal Engineering Council.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/ 35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LEGAL SIDE · WHO DOES WHAT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suggests · You check · Engineer decides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3041650" cy="2277110"/>
          </a:xfrm>
          <a:prstGeom prst="roundRect">
            <a:avLst>
              <a:gd name="adj" fmla="val 432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113285"/>
            <a:ext cx="260573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suggests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0112" y="2545085"/>
            <a:ext cx="251988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Drafts and summaries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Options and ideas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First-pass calculations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Checklists and questions</a:t>
            </a:r>
            <a:endParaRPr lang="en-US" sz="14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3200" y="2868935"/>
            <a:ext cx="4064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5175" y="1857375"/>
            <a:ext cx="3041650" cy="2277110"/>
          </a:xfrm>
          <a:prstGeom prst="roundRect">
            <a:avLst>
              <a:gd name="adj" fmla="val 4322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1080" y="2113285"/>
            <a:ext cx="260573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check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09312" y="2545085"/>
            <a:ext cx="2519883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Numbers by hand or Excel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actual NBC clause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 and client facts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down what you checked</a:t>
            </a:r>
            <a:endParaRPr lang="en-US" sz="14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2868935"/>
            <a:ext cx="4064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34375" y="1857375"/>
            <a:ext cx="3041650" cy="2277110"/>
          </a:xfrm>
          <a:prstGeom prst="roundRect">
            <a:avLst>
              <a:gd name="adj" fmla="val 4322"/>
            </a:avLst>
          </a:prstGeom>
          <a:solidFill>
            <a:srgbClr val="A3463D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90280" y="2113285"/>
            <a:ext cx="260573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Engineer decides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668512" y="2545085"/>
            <a:ext cx="251988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choices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compliance and safety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Advice to the client</a:t>
            </a:r>
            <a:endParaRPr lang="en-US" sz="1400" dirty="0"/>
          </a:p>
          <a:p>
            <a:pPr marL="175768" indent="-1757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signature and stamp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42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/ 35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Client Brief Extraction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2040890"/>
          </a:xfrm>
          <a:prstGeom prst="roundRect">
            <a:avLst>
              <a:gd name="adj" fmla="val 482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a long, messy client email into a clear list of what they want.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family emails a rambling 4-page note, half Nepali and half English, for a duplex in Jhamsikhel: rooms, a puja room, parking, a rental flat and a budget.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4060192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246885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241800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505958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“Design this building for the client.”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796792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AI cannot design from one vague line. You get a generic house with no link to the client.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584960"/>
          </a:xfrm>
          <a:prstGeom prst="roundRect">
            <a:avLst>
              <a:gd name="adj" fmla="val 6410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584960"/>
          </a:xfrm>
          <a:custGeom>
            <a:avLst/>
            <a:gdLst/>
            <a:ahLst/>
            <a:cxnLst/>
            <a:rect l="l" t="t" r="r" b="b"/>
            <a:pathLst>
              <a:path w="5486400" h="1584960">
                <a:moveTo>
                  <a:pt x="101600" y="1584960"/>
                </a:moveTo>
                <a:lnTo>
                  <a:pt x="101600" y="1584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8336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“Act as an architectural programming assistant. Analyze this client brief and extract functional, spatial and environmental requirements. Separate facts from assumptions. List missing information and questions for the client.”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59473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402335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tidy list of needs, facts vs guesses, and questions to ask.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59473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402335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item must trace back to the client's own words.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238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 / 35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Programming (100-Room Hotel)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2040890"/>
          </a:xfrm>
          <a:prstGeom prst="roundRect">
            <a:avLst>
              <a:gd name="adj" fmla="val 482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out the rooms, areas and what sits next to what, before drawing plans.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boutique resort in Pokhara near Phewa Lake. The owner wants the right balance of guest areas and back-of-house (kitchen, laundry, staff).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4060192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246885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241800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505958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“Design a 100-room hotel.”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796792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Far too big an ask. You get a random room list with no reasoning.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362710"/>
          </a:xfrm>
          <a:prstGeom prst="roundRect">
            <a:avLst>
              <a:gd name="adj" fmla="val 7456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362710"/>
          </a:xfrm>
          <a:custGeom>
            <a:avLst/>
            <a:gdLst/>
            <a:ahLst/>
            <a:cxnLst/>
            <a:rect l="l" t="t" r="r" b="b"/>
            <a:pathLst>
              <a:path w="5486400" h="1362710">
                <a:moveTo>
                  <a:pt x="101600" y="1362710"/>
                </a:moveTo>
                <a:lnTo>
                  <a:pt x="101600" y="13627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26111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“I'm designing a 100-room hotel. Develop a space-programming framework covering guest areas, BOH, service and accessibility. For each space, identify function, users, adjacencies and open questions.”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37248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5267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380110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room-by-room table with users, neighbours and open questions.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37248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5267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3801108"/>
            <a:ext cx="242260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areas with Department of Tourism hotel standards and past projects.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238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/ 35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03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Research Framework (Sustainable Office)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1827530"/>
          </a:xfrm>
          <a:prstGeom prst="roundRect">
            <a:avLst>
              <a:gd name="adj" fmla="val 538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what to study for a greener, cooler building, and how to measure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mid-rise office in Kathmandu: sunny winters, heavy monsoon, dust. The client wants less air-conditioning and more daylight.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846835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033527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028442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292600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“Tell me about sustainable buildings.”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583435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You get a textbook essay, mostly about other climates.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584960"/>
          </a:xfrm>
          <a:prstGeom prst="roundRect">
            <a:avLst>
              <a:gd name="adj" fmla="val 6410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584960"/>
          </a:xfrm>
          <a:custGeom>
            <a:avLst/>
            <a:gdLst/>
            <a:ahLst/>
            <a:cxnLst/>
            <a:rect l="l" t="t" r="r" b="b"/>
            <a:pathLst>
              <a:path w="5486400" h="1584960">
                <a:moveTo>
                  <a:pt x="101600" y="1584960"/>
                </a:moveTo>
                <a:lnTo>
                  <a:pt x="101600" y="1584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8336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 am designing a mid-rise office building in Kathmandu. Create a research framework covering orientation, daylighting, ventilation and envelope. For each topic, give the research question, data required and a metric to verify.”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59473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402335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research plan: question, data needed, how to measure success.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59473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402335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real local weather data (DHM) and check every metric.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238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8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 / 35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04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Meeting Minutes to Action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1596390"/>
          </a:xfrm>
          <a:prstGeom prst="roundRect">
            <a:avLst>
              <a:gd name="adj" fmla="val 6165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6367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scribbled meeting notes into who-does-what-by-when.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5831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2847342"/>
            <a:ext cx="45940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coordination meeting of architect, structural, MEP consultants and contractor. Notes were jotted in mixed Nepali and English.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615692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3802385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3797300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061458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“Summarize the meeting.”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352292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vague paragraph with no names, no deadlines, no follow-up.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362710"/>
          </a:xfrm>
          <a:prstGeom prst="roundRect">
            <a:avLst>
              <a:gd name="adj" fmla="val 7456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362710"/>
          </a:xfrm>
          <a:custGeom>
            <a:avLst/>
            <a:gdLst/>
            <a:ahLst/>
            <a:cxnLst/>
            <a:rect l="l" t="t" r="r" b="b"/>
            <a:pathLst>
              <a:path w="5486400" h="1362710">
                <a:moveTo>
                  <a:pt x="101600" y="1362710"/>
                </a:moveTo>
                <a:lnTo>
                  <a:pt x="101600" y="13627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26111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“Convert these meeting notes into structured minutes: decisions made, issues raised, responsibilities, deadlines and pending items. Do not invent information that wasn't discussed.”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37248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5267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380110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clean action table you can email the same day.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37248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5267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380110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 it to attendees to confirm before it becomes the record.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10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 / 35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05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Preliminary Cost Estimation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2040890"/>
          </a:xfrm>
          <a:prstGeom prst="roundRect">
            <a:avLst>
              <a:gd name="adj" fmla="val 482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 an early budget into big cost headings and spot the risks.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mixed-use building in Kathmandu, shops below and flats above. The client asks for a rough budget in NPR before any drawings.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4060192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246885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241800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505958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“What will this building cost?”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796792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It invents a number in dollars with no basis. Dangerous if shown to a client.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362710"/>
          </a:xfrm>
          <a:prstGeom prst="roundRect">
            <a:avLst>
              <a:gd name="adj" fmla="val 7456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362710"/>
          </a:xfrm>
          <a:custGeom>
            <a:avLst/>
            <a:gdLst/>
            <a:ahLst/>
            <a:cxnLst/>
            <a:rect l="l" t="t" r="r" b="b"/>
            <a:pathLst>
              <a:path w="5486400" h="1362710">
                <a:moveTo>
                  <a:pt x="101600" y="1362710"/>
                </a:moveTo>
                <a:lnTo>
                  <a:pt x="101600" y="13627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26111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“Break this brief into major cost categories, flag items needing QS confirmation, and list your rate assumptions. Don't present this as a final price. Use NPR.”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37248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5267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380110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headings, assumed rates and a list of items to confirm.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372483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5267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380110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current district rates and get a quantity surveyor to confirm.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12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/ 35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06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NBC Code Compliance Querying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1827530"/>
          </a:xfrm>
          <a:prstGeom prst="roundRect">
            <a:avLst>
              <a:gd name="adj" fmla="val 538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relevant NBC requirements quickly, from the actual code.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Checking earthquake-resistant (ductile) detailing for a 4-storey RC house in Kathmandu Valley before submitting for naksa pass.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846835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033527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028442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292600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“Is my building code compliant?”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583435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AI cannot see your building, and may quote clauses from memory that do not exist.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584960"/>
          </a:xfrm>
          <a:prstGeom prst="roundRect">
            <a:avLst>
              <a:gd name="adj" fmla="val 6410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584960"/>
          </a:xfrm>
          <a:custGeom>
            <a:avLst/>
            <a:gdLst/>
            <a:ahLst/>
            <a:cxnLst/>
            <a:rect l="l" t="t" r="r" b="b"/>
            <a:pathLst>
              <a:path w="5486400" h="1584960">
                <a:moveTo>
                  <a:pt x="101600" y="1584960"/>
                </a:moveTo>
                <a:lnTo>
                  <a:pt x="101600" y="1584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8336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“Based on the uploaded NBC 105 (Seismic Design of Buildings in Nepal) document, what are the specific structural limitations and ductility requirements for a 4-storey residential building located in Kathmandu Valley? Cite the specific sections.”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59473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402335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of requirements, each with its clause number.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59473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4023358"/>
            <a:ext cx="242260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every cited clause. The structural engineer signs off, not AI.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14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 / 35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07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Quantity Surveying &amp; Material Ratios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1827530"/>
          </a:xfrm>
          <a:prstGeom prst="roundRect">
            <a:avLst>
              <a:gd name="adj" fmla="val 538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 out cement bags, sand and aggregate from a concrete volume.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Footings for a house: the contractor needs to order cement, sand and gitti from a local supplier this week.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846835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033527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028442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292600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“How much concrete materials do I need?”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583435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 volume, grade or mix given, so any number it gives is a guess.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807210"/>
          </a:xfrm>
          <a:prstGeom prst="roundRect">
            <a:avLst>
              <a:gd name="adj" fmla="val 5622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807210"/>
          </a:xfrm>
          <a:custGeom>
            <a:avLst/>
            <a:gdLst/>
            <a:ahLst/>
            <a:cxnLst/>
            <a:rect l="l" t="t" r="r" b="b"/>
            <a:pathLst>
              <a:path w="5486400" h="1807210">
                <a:moveTo>
                  <a:pt x="101600" y="1807210"/>
                </a:moveTo>
                <a:lnTo>
                  <a:pt x="101600" y="18072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70561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“Act as an expert quantity surveyor in Nepal. I have a concrete volume of 45 cubic metres for M20 grade concrete. Using a nominal mix ratio of 1:1.5:3, calculate the exact bags of cement, volume of sand (cft) and volume of aggregate needed. Show every step. Format the output as a clean table for a client proposal.”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81698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9712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4245608"/>
            <a:ext cx="242260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step-by-step table: about 363 bags, 667 cft sand, 1,335 cft aggregate.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81698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97129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424560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Recheck by hand (see the checking slide) and add wastage.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16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 / 35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08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Rapid Concept Render Prompting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1827530"/>
          </a:xfrm>
          <a:prstGeom prst="roundRect">
            <a:avLst>
              <a:gd name="adj" fmla="val 5386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clear description for an AI image tool to make mood-board pictures.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27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contemporary house in Patan, Lalitpur, that respects the traditional Newari brick look of the neighbourhood.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846835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033527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028442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292600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“Make a cool house render.”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583435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You get a generic Western villa that has nothing to do with Nepal.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584960"/>
          </a:xfrm>
          <a:prstGeom prst="roundRect">
            <a:avLst>
              <a:gd name="adj" fmla="val 6410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584960"/>
          </a:xfrm>
          <a:custGeom>
            <a:avLst/>
            <a:gdLst/>
            <a:ahLst/>
            <a:cxnLst/>
            <a:rect l="l" t="t" r="r" b="b"/>
            <a:pathLst>
              <a:path w="5486400" h="1584960">
                <a:moveTo>
                  <a:pt x="101600" y="1584960"/>
                </a:moveTo>
                <a:lnTo>
                  <a:pt x="101600" y="1584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8336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58"/>
            <a:ext cx="5180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 photorealistic render of a modern 3-storey house in Lalitpur, Nepal. Traditional Newari brickwork (Maapaa) on the ground floor, paired with minimalist glass and exposed concrete above. Midday clear sky, lush local courtyard vegetation.”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59473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4023358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Mood-board pictures to discuss style with the client.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594733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749042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4023358"/>
            <a:ext cx="242260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Pictures are ideas, not buildable designs. Heritage bylaws still apply.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42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18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42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/ 35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09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Site Coordination &amp; Voice Notes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2040890"/>
          </a:xfrm>
          <a:prstGeom prst="roundRect">
            <a:avLst>
              <a:gd name="adj" fmla="val 4823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42"/>
            <a:ext cx="459404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voice notes from a site walk into an issues list and RFIs.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81431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3078485"/>
            <a:ext cx="459404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site engineer walks a multi-storey site in Balkhu, recording notes in Nepali about honeycombing in columns and misaligned rebar.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4060205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246885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241800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505970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“Fix the issues mentioned in my site audio recording.”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796805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AI cannot fix a site. It may also invent details that were never said.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362710"/>
          </a:xfrm>
          <a:prstGeom prst="roundRect">
            <a:avLst>
              <a:gd name="adj" fmla="val 7456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362710"/>
          </a:xfrm>
          <a:custGeom>
            <a:avLst/>
            <a:gdLst/>
            <a:ahLst/>
            <a:cxnLst/>
            <a:rect l="l" t="t" r="r" b="b"/>
            <a:pathLst>
              <a:path w="5486400" h="1362710">
                <a:moveTo>
                  <a:pt x="101600" y="1362710"/>
                </a:moveTo>
                <a:lnTo>
                  <a:pt x="101600" y="136271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26111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70"/>
            <a:ext cx="5180076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“Convert this site audio transcript into a structured matrix: 1. Critical Non-Conformances 2. Consultant RFIs 3. Responsible Parties and Deadlines. Do not assume facts not stated.”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372495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526805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3801120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issues table with RFIs, owners and deadlines.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372495"/>
            <a:ext cx="2660650" cy="1223010"/>
          </a:xfrm>
          <a:prstGeom prst="roundRect">
            <a:avLst>
              <a:gd name="adj" fmla="val 80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526805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3801120"/>
            <a:ext cx="242260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Attach site photos and confirm with the team. Structural defects go to the structural engineer.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55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20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55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 / 35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10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Contract &amp; Tender Reviewing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4819650" cy="1809750"/>
          </a:xfrm>
          <a:prstGeom prst="roundRect">
            <a:avLst>
              <a:gd name="adj" fmla="val 5439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370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301255"/>
            <a:ext cx="459404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Spot unclear or unfair clauses in a contract or tender.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583185"/>
            <a:ext cx="45940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Nepal scenario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5680" y="2847355"/>
            <a:ext cx="459404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sub-consultant agreement with vague milestone penalties and one-sided liability, or a public tender under the Public Procurement 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9150" y="3829050"/>
            <a:ext cx="4813300" cy="1344930"/>
          </a:xfrm>
          <a:prstGeom prst="roundRect">
            <a:avLst>
              <a:gd name="adj" fmla="val 7082"/>
            </a:avLst>
          </a:prstGeom>
          <a:solidFill>
            <a:srgbClr val="FBEAE5"/>
          </a:solidFill>
          <a:ln w="12700">
            <a:solidFill>
              <a:srgbClr val="A3463D"/>
            </a:solidFill>
            <a:prstDash val="solid"/>
          </a:ln>
        </p:spPr>
      </p:sp>
      <p:pic>
        <p:nvPicPr>
          <p:cNvPr id="10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760" y="4015755"/>
            <a:ext cx="203200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7460" y="4010670"/>
            <a:ext cx="12128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Bad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0760" y="4274815"/>
            <a:ext cx="458358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i="1" dirty="0">
                <a:solidFill>
                  <a:srgbClr val="2B1D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“Is this contract good?”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0760" y="4565650"/>
            <a:ext cx="458358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fails: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“Good” for whom? You get a bland yes-or-no with no detail.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1854200"/>
            <a:ext cx="5486400" cy="1584960"/>
          </a:xfrm>
          <a:prstGeom prst="roundRect">
            <a:avLst>
              <a:gd name="adj" fmla="val 6410"/>
            </a:avLst>
          </a:prstGeom>
          <a:solidFill>
            <a:srgbClr val="2B1D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892800" y="1854200"/>
            <a:ext cx="5486400" cy="1584960"/>
          </a:xfrm>
          <a:custGeom>
            <a:avLst/>
            <a:gdLst/>
            <a:ahLst/>
            <a:cxnLst/>
            <a:rect l="l" t="t" r="r" b="b"/>
            <a:pathLst>
              <a:path w="5486400" h="1584960">
                <a:moveTo>
                  <a:pt x="101600" y="1584960"/>
                </a:moveTo>
                <a:lnTo>
                  <a:pt x="101600" y="1584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483360"/>
                </a:lnTo>
                <a:arcTo wR="50800" hR="101600" stAng="10800000" swAng="-5400000"/>
                <a:close/>
              </a:path>
            </a:pathLst>
          </a:custGeom>
          <a:solidFill>
            <a:srgbClr val="2F5D7C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6800" y="2062485"/>
            <a:ext cx="203200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13500" y="2057400"/>
            <a:ext cx="25428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EC5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Good prompt (copy this)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146800" y="2346970"/>
            <a:ext cx="5180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“Act as a legal contract specialist in AEC. Review the attached tender clause text and highlight: 1. Ambiguous milestone definitions 2. Unbalanced liability risks 3. Missing deliverable criteria. Format as a bulleted risk summary.”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895975" y="3594745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0280" y="3749055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 get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050280" y="4023370"/>
            <a:ext cx="24226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risk list to take to your lawyer.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715375" y="3594745"/>
            <a:ext cx="2660650" cy="1009650"/>
          </a:xfrm>
          <a:prstGeom prst="roundRect">
            <a:avLst>
              <a:gd name="adj" fmla="val 9748"/>
            </a:avLst>
          </a:prstGeom>
          <a:solidFill>
            <a:srgbClr val="FFFBF5"/>
          </a:solidFill>
          <a:ln w="6350">
            <a:solidFill>
              <a:srgbClr val="E6D9C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869680" y="3749055"/>
            <a:ext cx="242260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 before use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869680" y="4023370"/>
            <a:ext cx="24226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first pass only. A lawyer must review before you sign.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55"/>
            <a:ext cx="3348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Practise this: AI Prompt Manual, page 22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783888" y="6238255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 / 35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A34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 + AI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1762770"/>
            <a:ext cx="1020318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“Don’t ask AI to design your building. Ask it to help you understand the brief, ask better questions, structure research and document decisions. Then </a:t>
            </a:r>
            <a:r>
              <a:rPr lang="en-US" sz="3000" b="1" dirty="0">
                <a:solidFill>
                  <a:srgbClr val="F2A0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design</a:t>
            </a:r>
            <a:r>
              <a:rPr lang="en-US" sz="3000" b="1" dirty="0">
                <a:solidFill>
                  <a:srgbClr val="F6E7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429260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A0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suggests · Professional checks · Engineer decides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5420370"/>
            <a:ext cx="46305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814070"/>
            <a:ext cx="53948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Er. Pranaya Nakarmi · CEO, Venture Four Technology Pvt. Ltd.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04833" y="5814070"/>
            <a:ext cx="21743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F6E7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www.squareunit.com.np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REFERENCES · 1 OF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Surveys, studies and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39315"/>
            <a:ext cx="5080000" cy="0"/>
          </a:xfrm>
          <a:prstGeom prst="line">
            <a:avLst/>
          </a:prstGeom>
          <a:noFill/>
          <a:ln w="19050">
            <a:solidFill>
              <a:srgbClr val="A34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54200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Surveys and studies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25045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RIBA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(2024, 2025, 2026).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 Report.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Royal Institute of British Architects. architecture.com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763515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FMI &amp; PlanGrid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(2018).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Construction Disconnected.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070870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McKinsey &amp; Company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(2025).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State of AI in 2025.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378200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Dell’Acqua, F. et al.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(2023).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Navigating the Jagged Technological Frontier.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Harvard Business School Working Paper 24-013.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9200" y="2139315"/>
            <a:ext cx="5080000" cy="0"/>
          </a:xfrm>
          <a:prstGeom prst="line">
            <a:avLst/>
          </a:prstGeom>
          <a:noFill/>
          <a:ln w="19050">
            <a:solidFill>
              <a:srgbClr val="2F5D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9200" y="1854200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LLMs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99200" y="225045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Vaswani, A. et al.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(2017).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Attention Is All You Need.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arxiv.org/abs/1706.03762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9200" y="276351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Lewis, P. et al.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(2020).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Retrieval-Augmented Generation for Knowledge-Intensive NLP Tasks.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arxiv.org/abs/2005.11401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9200" y="3276600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Wei, J. et al.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(2022).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Chain-of-Thought Prompting Elicits Reasoning in Large Language Models.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arxiv.org/abs/2201.11903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9200" y="378968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Ouyang, L. et al.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(2022).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Language Models to Follow Instructions with Human Feedback.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arxiv.org/abs/2203.02155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5"/>
            <a:ext cx="44323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Unit CPD · LLMs for Architecture &amp;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3888" y="6238255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 / 35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34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REFERENCES · 2 OF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7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B1D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Law, codes and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139315"/>
            <a:ext cx="5080000" cy="0"/>
          </a:xfrm>
          <a:prstGeom prst="line">
            <a:avLst/>
          </a:prstGeom>
          <a:noFill/>
          <a:ln w="19050">
            <a:solidFill>
              <a:srgbClr val="A34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54200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346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Law, policy and codes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250455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Mata v. Avianca, Inc.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No. 22-cv-1461 (S.D.N.Y. 2023).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55778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 Copyright Office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(2025).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Copyright and Artificial Intelligence, Part 2: Copyrightability.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070870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Regulation (EU) 2024/1689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(EU Artificial Intelligence Act).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378200"/>
            <a:ext cx="5486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Government of Nepal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(2025).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National Artificial Intelligence Policy 2082.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8555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Nepal: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Engineering Council Act 2055; Individual Privacy Act 2075; Copyright Act 2059; Electronic Transactions Act 2063.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4198615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DUDBC.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i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NBC 105:2020 Seismic Design of Buildings in Nepal.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9200" y="2139315"/>
            <a:ext cx="5080000" cy="0"/>
          </a:xfrm>
          <a:prstGeom prst="line">
            <a:avLst/>
          </a:prstGeom>
          <a:noFill/>
          <a:ln w="19050">
            <a:solidFill>
              <a:srgbClr val="2F5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9200" y="1854200"/>
            <a:ext cx="523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5D7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 and session resources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99200" y="225045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assistants: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ChatGPT (chatgpt.com) · Claude (claude.ai) · Gemini (gemini.google.com) · Copilot (copilot.microsoft.com)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9200" y="276351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tools: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NotebookLM (notebooklm.google.com) · Perplexity (perplexity.ai)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9200" y="3276600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 AI: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Ollama (ollama.com) · LM Studio (lmstudio.ai)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9200" y="3583955"/>
            <a:ext cx="523240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Prompt Manual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(PDF, 25 pages): 10 use cases with prompts and practice samples.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9200" y="4097015"/>
            <a:ext cx="523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1620"/>
              </a:lnSpc>
            </a:pPr>
            <a:r>
              <a:rPr lang="en-US" sz="1200" b="1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 manual:</a:t>
            </a:r>
            <a:r>
              <a:rPr lang="en-US" sz="1200" dirty="0">
                <a:solidFill>
                  <a:srgbClr val="5A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https://github.com/nprnak/llm/blob/main/AI-Prompt-Manual-Nepal.pdf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5"/>
            <a:ext cx="79969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Laws summarised for awareness, not legal advice. Tool names and models as of September 2026.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3888" y="6238255"/>
            <a:ext cx="595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6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 / 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s for Architecture &amp; Engineering">
  <a:themeElements>
    <a:clrScheme name="LLMs for Architecture &amp; Engineering">
      <a:dk1>
        <a:srgbClr val="2B1D1A"/>
      </a:dk1>
      <a:lt1>
        <a:srgbClr val="FAF5EE"/>
      </a:lt1>
      <a:dk2>
        <a:srgbClr val="5F534F"/>
      </a:dk2>
      <a:lt2>
        <a:srgbClr val="E5DFD9"/>
      </a:lt2>
      <a:accent1>
        <a:srgbClr val="A3463D"/>
      </a:accent1>
      <a:accent2>
        <a:srgbClr val="2F5D7C"/>
      </a:accent2>
      <a:accent3>
        <a:srgbClr val="8EC5E8"/>
      </a:accent3>
      <a:accent4>
        <a:srgbClr val="F2A04E"/>
      </a:accent4>
      <a:accent5>
        <a:srgbClr val="C98B7F"/>
      </a:accent5>
      <a:accent6>
        <a:srgbClr val="EAD9C3"/>
      </a:accent6>
      <a:hlink>
        <a:srgbClr val="0563C1"/>
      </a:hlink>
      <a:folHlink>
        <a:srgbClr val="954F72"/>
      </a:folHlink>
    </a:clrScheme>
    <a:fontScheme name="LLMs for Architecture &amp; Engineering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6498</Words>
  <Application>Microsoft Office PowerPoint</Application>
  <PresentationFormat>Widescreen</PresentationFormat>
  <Paragraphs>664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IBM Plex Sans</vt:lpstr>
      <vt:lpstr>Space Grotesk</vt:lpstr>
      <vt:lpstr>LLMs for Architecture &amp; Engineering</vt:lpstr>
      <vt:lpstr>LLMs for Architecture &amp; Engineering</vt:lpstr>
      <vt:lpstr>What we will cover today</vt:lpstr>
      <vt:lpstr>AI, machine learning, LLM: what is the difference?</vt:lpstr>
      <vt:lpstr>Six words you will hear today</vt:lpstr>
      <vt:lpstr>Think of AI as a very fast new junior</vt:lpstr>
      <vt:lpstr>Same question, two confident answers</vt:lpstr>
      <vt:lpstr>Four ideas that explain how AI behaves</vt:lpstr>
      <vt:lpstr>What AI does well, and where it fails</vt:lpstr>
      <vt:lpstr>Architecture firms using AI (UK)</vt:lpstr>
      <vt:lpstr>PowerPoint Presentation</vt:lpstr>
      <vt:lpstr>The main AI assistants, September 2026</vt:lpstr>
      <vt:lpstr>Pick the right tool for the job</vt:lpstr>
      <vt:lpstr>Six steps to use AI on real work</vt:lpstr>
      <vt:lpstr>Escape the one-line prompt trap</vt:lpstr>
      <vt:lpstr>The six parts of a good prompt</vt:lpstr>
      <vt:lpstr>Four basic ways to ask</vt:lpstr>
      <vt:lpstr>Always check the AI's maths: an example</vt:lpstr>
      <vt:lpstr>Six habits to avoid AI mistakes</vt:lpstr>
      <vt:lpstr>Four legal rules, in plain words</vt:lpstr>
      <vt:lpstr>What courts and governments have already said</vt:lpstr>
      <vt:lpstr>What Nepali law and policy say</vt:lpstr>
      <vt:lpstr>AI suggests · You check · Engineer decides</vt:lpstr>
      <vt:lpstr>Client Brief Extraction</vt:lpstr>
      <vt:lpstr>Space Programming (100-Room Hotel)</vt:lpstr>
      <vt:lpstr>Research Framework (Sustainable Office)</vt:lpstr>
      <vt:lpstr>Meeting Minutes to Action Tracker</vt:lpstr>
      <vt:lpstr>Preliminary Cost Estimation Framework</vt:lpstr>
      <vt:lpstr>NBC Code Compliance Querying</vt:lpstr>
      <vt:lpstr>Quantity Surveying &amp; Material Ratios</vt:lpstr>
      <vt:lpstr>Rapid Concept Render Prompting</vt:lpstr>
      <vt:lpstr>Site Coordination &amp; Voice Notes</vt:lpstr>
      <vt:lpstr>Contract &amp; Tender Reviewing</vt:lpstr>
      <vt:lpstr>PowerPoint Presentation</vt:lpstr>
      <vt:lpstr>Surveys, studies and research</vt:lpstr>
      <vt:lpstr>Law, codes and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for Architecture &amp; Engineering</dc:title>
  <dc:subject/>
  <dc:creator/>
  <cp:lastModifiedBy>Pranaya Nakarmi</cp:lastModifiedBy>
  <cp:revision>2</cp:revision>
  <dcterms:created xsi:type="dcterms:W3CDTF">2026-10-01T11:06:44Z</dcterms:created>
  <dcterms:modified xsi:type="dcterms:W3CDTF">2026-10-01T11:13:18Z</dcterms:modified>
</cp:coreProperties>
</file>